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77" r:id="rId5"/>
    <p:sldId id="275" r:id="rId6"/>
    <p:sldId id="260" r:id="rId7"/>
    <p:sldId id="263" r:id="rId8"/>
    <p:sldId id="276" r:id="rId9"/>
    <p:sldId id="264" r:id="rId10"/>
    <p:sldId id="271" r:id="rId11"/>
    <p:sldId id="262" r:id="rId12"/>
    <p:sldId id="283" r:id="rId13"/>
    <p:sldId id="270" r:id="rId14"/>
    <p:sldId id="278" r:id="rId15"/>
    <p:sldId id="287" r:id="rId16"/>
    <p:sldId id="286" r:id="rId17"/>
    <p:sldId id="285" r:id="rId18"/>
    <p:sldId id="280" r:id="rId19"/>
    <p:sldId id="291" r:id="rId20"/>
    <p:sldId id="292" r:id="rId21"/>
    <p:sldId id="284" r:id="rId22"/>
    <p:sldId id="288" r:id="rId23"/>
    <p:sldId id="289" r:id="rId24"/>
    <p:sldId id="267" r:id="rId25"/>
    <p:sldId id="274" r:id="rId26"/>
    <p:sldId id="268" r:id="rId27"/>
  </p:sldIdLst>
  <p:sldSz cx="12192000" cy="6858000"/>
  <p:notesSz cx="6858000" cy="9144000"/>
  <p:embeddedFontLst>
    <p:embeddedFont>
      <p:font typeface="Lato Black" panose="020F0502020204030203" pitchFamily="34" charset="0"/>
      <p:bold r:id="rId28"/>
      <p:boldItalic r:id="rId29"/>
    </p:embeddedFont>
    <p:embeddedFont>
      <p:font typeface="Lato Medium" panose="020F0502020204030203" pitchFamily="34" charset="0"/>
      <p:regular r:id="rId30"/>
      <p: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116" d="100"/>
          <a:sy n="116"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3836-2BF7-4D4D-A302-C5B4EAE7FC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1EAE4-E6E5-424A-B998-20E9603AF7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38D65A-D916-447F-8C1F-DE7C6A660D11}"/>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6EC65C03-8FD5-4EB4-BE81-6D3E784F9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BE27C-0FE1-4FBD-96FB-8458A1652302}"/>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2586686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31C5C-3546-44F0-AA22-6226011AE1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DC6129-DCEE-4912-9B73-817D3A5D0C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9F86E-6A9F-4E1D-AE72-059A2FB82AE1}"/>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F40C859B-388E-4591-819A-CB87A73BB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6B9349-5F70-49CE-B193-C00312EC1A29}"/>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124485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2916-7CF8-4BA5-B6F6-E7F6465A39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52F85-2075-4555-8F96-64810D2846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BB6D5F-F455-4A68-9E24-BCD027FD4F97}"/>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C8182411-F80E-4419-9A99-F1EEE7F2B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AB576-125B-48E3-9E40-4D5FD97F7177}"/>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3017784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C6FC-ECDF-4688-A979-1FB728906A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DEB651-A743-4199-AFA0-9F043E7FCB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3BC750-C2D1-4984-A969-B9662A5B064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13A103-7424-4B09-87FA-6AFA8DA1F8F6}"/>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6" name="Footer Placeholder 5">
            <a:extLst>
              <a:ext uri="{FF2B5EF4-FFF2-40B4-BE49-F238E27FC236}">
                <a16:creationId xmlns:a16="http://schemas.microsoft.com/office/drawing/2014/main" id="{BFDC9284-AD4D-426C-88A3-A09395B229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5B1DE3-64D3-41CB-B71B-ECB474542172}"/>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254003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192F6-B81B-40E7-AB94-A936B7EE28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0E4A3E-BE0F-4321-A81C-71B167295C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FDA0541-9C46-4574-B3DD-5F938854632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227221-89CF-4444-BBAE-4744FF25DD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A0F57BC-0B94-4812-B642-44E9EBDB65B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BDC8F1-734F-4C3E-954A-DA61F8412061}"/>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8" name="Footer Placeholder 7">
            <a:extLst>
              <a:ext uri="{FF2B5EF4-FFF2-40B4-BE49-F238E27FC236}">
                <a16:creationId xmlns:a16="http://schemas.microsoft.com/office/drawing/2014/main" id="{75A979CD-4C56-442E-B7E9-65FF07BCCC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9FA349-2DB6-4698-9C16-FFA08CC64828}"/>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713022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091F-30D7-49DB-8853-00B9AA253F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1CF271-6175-44CB-8A86-2F635B2C9CEA}"/>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4" name="Footer Placeholder 3">
            <a:extLst>
              <a:ext uri="{FF2B5EF4-FFF2-40B4-BE49-F238E27FC236}">
                <a16:creationId xmlns:a16="http://schemas.microsoft.com/office/drawing/2014/main" id="{9CD10E9B-B1ED-476C-8498-656EAF2264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1D5079-3239-4C0B-BEA8-EB5421C51B9F}"/>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104434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CA2A7-6810-42E5-BCFC-0671BE61C55B}"/>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3" name="Footer Placeholder 2">
            <a:extLst>
              <a:ext uri="{FF2B5EF4-FFF2-40B4-BE49-F238E27FC236}">
                <a16:creationId xmlns:a16="http://schemas.microsoft.com/office/drawing/2014/main" id="{DC8327E7-AA51-4B17-8749-4AFF858798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187B08-BC35-4A41-9E13-5B6FFD953970}"/>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5548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C5EC-8561-44F2-B329-7164EF582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84F23C-C89B-4736-B67C-9DCD28527E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92F7EA-AA3A-49C0-92A5-45D80C764C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B88D622-F4F3-48BB-B7D4-5B5EECCEE38F}"/>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6" name="Footer Placeholder 5">
            <a:extLst>
              <a:ext uri="{FF2B5EF4-FFF2-40B4-BE49-F238E27FC236}">
                <a16:creationId xmlns:a16="http://schemas.microsoft.com/office/drawing/2014/main" id="{E1B4AFDC-FA46-47D9-902F-8D43CA1A7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F70E54-6775-44AC-A7E7-C7EAFBA57087}"/>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3137633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7374-D807-4E70-8FA7-44667D19B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C161DC-C2B3-4797-8E94-1CFC9F6E6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BE7A46-4124-4ECF-B373-2D671A229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225CE40-8943-4713-B97D-50C6CE8CF86D}"/>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6" name="Footer Placeholder 5">
            <a:extLst>
              <a:ext uri="{FF2B5EF4-FFF2-40B4-BE49-F238E27FC236}">
                <a16:creationId xmlns:a16="http://schemas.microsoft.com/office/drawing/2014/main" id="{2473D6CC-FA7B-4A70-9FDC-F62C890784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815A17-BD07-4D0A-8041-8AAD2FB5A82E}"/>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168502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2450-980D-43C2-AE38-57ED198794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82A390-1D38-440A-A8B1-D87C177640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92D1E-E33B-45E1-8888-2BB1D7BC1FEC}"/>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9F7D2597-AB8A-421A-9E6E-4A4A3058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3608A6-3488-431B-BB71-F2AC2F3A1604}"/>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178533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53CB0-B68E-4AD2-BA53-04EBBCE8D8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0089C8-B080-44A1-9DC4-33E8BA10A37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BD0EE-A509-49E9-AFB4-42FE32C0D374}"/>
              </a:ext>
            </a:extLst>
          </p:cNvPr>
          <p:cNvSpPr>
            <a:spLocks noGrp="1"/>
          </p:cNvSpPr>
          <p:nvPr>
            <p:ph type="dt" sz="half" idx="10"/>
          </p:nvPr>
        </p:nvSpPr>
        <p:spPr/>
        <p:txBody>
          <a:body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0F54AD86-3632-4B82-833D-63331200FF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0016E-831B-4A5E-B800-A56FF7FFB9A2}"/>
              </a:ext>
            </a:extLst>
          </p:cNvPr>
          <p:cNvSpPr>
            <a:spLocks noGrp="1"/>
          </p:cNvSpPr>
          <p:nvPr>
            <p:ph type="sldNum" sz="quarter" idx="12"/>
          </p:nvPr>
        </p:nvSpPr>
        <p:spPr/>
        <p:txBody>
          <a:bodyPr/>
          <a:lstStyle/>
          <a:p>
            <a:fld id="{14D1EB71-207D-43EE-944C-5EA067CF3CAF}" type="slidenum">
              <a:rPr lang="en-US" smtClean="0"/>
              <a:t>‹#›</a:t>
            </a:fld>
            <a:endParaRPr lang="en-US"/>
          </a:p>
        </p:txBody>
      </p:sp>
    </p:spTree>
    <p:extLst>
      <p:ext uri="{BB962C8B-B14F-4D97-AF65-F5344CB8AC3E}">
        <p14:creationId xmlns:p14="http://schemas.microsoft.com/office/powerpoint/2010/main" val="231737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947B20-224D-4A9E-AC5B-F1E649D3D5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7F3AF6-0AB7-448B-9FCD-6E3582394B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0C6A2-BA0C-4BFB-A57A-4546B56D87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BE339E-501D-4B8E-B9C7-15E85C48A55D}" type="datetimeFigureOut">
              <a:rPr lang="en-US" smtClean="0"/>
              <a:t>6/8/2026</a:t>
            </a:fld>
            <a:endParaRPr lang="en-US"/>
          </a:p>
        </p:txBody>
      </p:sp>
      <p:sp>
        <p:nvSpPr>
          <p:cNvPr id="5" name="Footer Placeholder 4">
            <a:extLst>
              <a:ext uri="{FF2B5EF4-FFF2-40B4-BE49-F238E27FC236}">
                <a16:creationId xmlns:a16="http://schemas.microsoft.com/office/drawing/2014/main" id="{7CDD452F-EDC0-41C0-A0B1-F58D47AC72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85A1DF-A882-42A0-9DA2-C7C7D2D9CD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1EB71-207D-43EE-944C-5EA067CF3CAF}" type="slidenum">
              <a:rPr lang="en-US" smtClean="0"/>
              <a:t>‹#›</a:t>
            </a:fld>
            <a:endParaRPr lang="en-US"/>
          </a:p>
        </p:txBody>
      </p:sp>
    </p:spTree>
    <p:extLst>
      <p:ext uri="{BB962C8B-B14F-4D97-AF65-F5344CB8AC3E}">
        <p14:creationId xmlns:p14="http://schemas.microsoft.com/office/powerpoint/2010/main" val="3825110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huggingface.co/datasets/pminervini/HaluEval"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huggingface.co/datasets/truthfulqa/truthful_qa"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aclanthology.org/2024.acl-long.483/" TargetMode="External"/><Relationship Id="rId2" Type="http://schemas.openxmlformats.org/officeDocument/2006/relationships/hyperlink" Target="https://aclanthology.org/2024.findings-emnlp.260/" TargetMode="External"/><Relationship Id="rId1" Type="http://schemas.openxmlformats.org/officeDocument/2006/relationships/slideLayout" Target="../slideLayouts/slideLayout1.xml"/><Relationship Id="rId5" Type="http://schemas.openxmlformats.org/officeDocument/2006/relationships/hyperlink" Target="https://aclanthology.org/2025.findings-acl.103/" TargetMode="External"/><Relationship Id="rId4" Type="http://schemas.openxmlformats.org/officeDocument/2006/relationships/hyperlink" Target="https://aclanthology.org/2025.findings-naacl.45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3997" y="431844"/>
            <a:ext cx="9144000" cy="720811"/>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A-RICD: Adapter-based Resource-efficient Induce-then-Contrast Decoding for Reducing Hallucinations in Large Language Models</a:t>
            </a:r>
          </a:p>
        </p:txBody>
      </p:sp>
      <p:sp>
        <p:nvSpPr>
          <p:cNvPr id="3" name="Subtitle 2">
            <a:extLst>
              <a:ext uri="{FF2B5EF4-FFF2-40B4-BE49-F238E27FC236}">
                <a16:creationId xmlns:a16="http://schemas.microsoft.com/office/drawing/2014/main" id="{1F8515F8-44D0-4056-98CD-F90946F24765}"/>
              </a:ext>
            </a:extLst>
          </p:cNvPr>
          <p:cNvSpPr>
            <a:spLocks noGrp="1"/>
          </p:cNvSpPr>
          <p:nvPr>
            <p:ph type="subTitle" idx="1"/>
          </p:nvPr>
        </p:nvSpPr>
        <p:spPr>
          <a:xfrm>
            <a:off x="1671176" y="5769722"/>
            <a:ext cx="8849641" cy="656434"/>
          </a:xfrm>
        </p:spPr>
        <p:txBody>
          <a:bodyPr>
            <a:noAutofit/>
          </a:bodyPr>
          <a:lstStyle/>
          <a:p>
            <a:pPr>
              <a:lnSpc>
                <a:spcPct val="100000"/>
              </a:lnSpc>
              <a:spcBef>
                <a:spcPts val="0"/>
              </a:spcBef>
            </a:pPr>
            <a:r>
              <a:rPr lang="en-US" sz="1600" b="1" dirty="0">
                <a:latin typeface="Lato Medium" panose="020F0502020204030203" pitchFamily="34" charset="0"/>
                <a:ea typeface="Lato Medium" panose="020F0502020204030203" pitchFamily="34" charset="0"/>
                <a:cs typeface="Lato Medium" panose="020F0502020204030203" pitchFamily="34" charset="0"/>
              </a:rPr>
              <a:t>Department of Computer Science and Engineering, Port City International University</a:t>
            </a:r>
          </a:p>
          <a:p>
            <a:pPr>
              <a:lnSpc>
                <a:spcPct val="100000"/>
              </a:lnSpc>
              <a:spcBef>
                <a:spcPts val="0"/>
              </a:spcBef>
            </a:pPr>
            <a:r>
              <a:rPr lang="en-US" sz="1600" dirty="0">
                <a:latin typeface="Lato Medium" panose="020F0502020204030203" pitchFamily="34" charset="0"/>
                <a:ea typeface="Lato Medium" panose="020F0502020204030203" pitchFamily="34" charset="0"/>
                <a:cs typeface="Lato Medium" panose="020F0502020204030203" pitchFamily="34" charset="0"/>
              </a:rPr>
              <a:t>7-14, </a:t>
            </a:r>
            <a:r>
              <a:rPr lang="en-US" sz="1600" dirty="0" err="1">
                <a:latin typeface="Lato Medium" panose="020F0502020204030203" pitchFamily="34" charset="0"/>
                <a:ea typeface="Lato Medium" panose="020F0502020204030203" pitchFamily="34" charset="0"/>
                <a:cs typeface="Lato Medium" panose="020F0502020204030203" pitchFamily="34" charset="0"/>
              </a:rPr>
              <a:t>Nikunja</a:t>
            </a:r>
            <a:r>
              <a:rPr lang="en-US" sz="1600" dirty="0">
                <a:latin typeface="Lato Medium" panose="020F0502020204030203" pitchFamily="34" charset="0"/>
                <a:ea typeface="Lato Medium" panose="020F0502020204030203" pitchFamily="34" charset="0"/>
                <a:cs typeface="Lato Medium" panose="020F0502020204030203" pitchFamily="34" charset="0"/>
              </a:rPr>
              <a:t> Housing Society, South </a:t>
            </a:r>
            <a:r>
              <a:rPr lang="en-US" sz="1600" dirty="0" err="1">
                <a:latin typeface="Lato Medium" panose="020F0502020204030203" pitchFamily="34" charset="0"/>
                <a:ea typeface="Lato Medium" panose="020F0502020204030203" pitchFamily="34" charset="0"/>
                <a:cs typeface="Lato Medium" panose="020F0502020204030203" pitchFamily="34" charset="0"/>
              </a:rPr>
              <a:t>Khulshi</a:t>
            </a:r>
            <a:r>
              <a:rPr lang="en-US" sz="1600" dirty="0">
                <a:latin typeface="Lato Medium" panose="020F0502020204030203" pitchFamily="34" charset="0"/>
                <a:ea typeface="Lato Medium" panose="020F0502020204030203" pitchFamily="34" charset="0"/>
                <a:cs typeface="Lato Medium" panose="020F0502020204030203" pitchFamily="34" charset="0"/>
              </a:rPr>
              <a:t>, </a:t>
            </a:r>
            <a:r>
              <a:rPr lang="en-US" sz="1600" dirty="0" err="1">
                <a:latin typeface="Lato Medium" panose="020F0502020204030203" pitchFamily="34" charset="0"/>
                <a:ea typeface="Lato Medium" panose="020F0502020204030203" pitchFamily="34" charset="0"/>
                <a:cs typeface="Lato Medium" panose="020F0502020204030203" pitchFamily="34" charset="0"/>
              </a:rPr>
              <a:t>Chattogram</a:t>
            </a:r>
            <a:r>
              <a:rPr lang="en-US" sz="1600" dirty="0">
                <a:latin typeface="Lato Medium" panose="020F0502020204030203" pitchFamily="34" charset="0"/>
                <a:ea typeface="Lato Medium" panose="020F0502020204030203" pitchFamily="34" charset="0"/>
                <a:cs typeface="Lato Medium" panose="020F0502020204030203" pitchFamily="34" charset="0"/>
              </a:rPr>
              <a:t>, Bangladesh</a:t>
            </a:r>
          </a:p>
        </p:txBody>
      </p:sp>
      <p:pic>
        <p:nvPicPr>
          <p:cNvPr id="5" name="Picture 4">
            <a:extLst>
              <a:ext uri="{FF2B5EF4-FFF2-40B4-BE49-F238E27FC236}">
                <a16:creationId xmlns:a16="http://schemas.microsoft.com/office/drawing/2014/main" id="{CA4B89D0-147A-4FB2-8C12-B653C968A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301" y="1510014"/>
            <a:ext cx="1803390" cy="2386483"/>
          </a:xfrm>
          <a:prstGeom prst="rect">
            <a:avLst/>
          </a:prstGeom>
        </p:spPr>
      </p:pic>
      <p:graphicFrame>
        <p:nvGraphicFramePr>
          <p:cNvPr id="4" name="Table 3">
            <a:extLst>
              <a:ext uri="{FF2B5EF4-FFF2-40B4-BE49-F238E27FC236}">
                <a16:creationId xmlns:a16="http://schemas.microsoft.com/office/drawing/2014/main" id="{D0FA2A0C-1EDF-42E6-B3DC-97AF3A3FCD60}"/>
              </a:ext>
            </a:extLst>
          </p:cNvPr>
          <p:cNvGraphicFramePr>
            <a:graphicFrameLocks noGrp="1"/>
          </p:cNvGraphicFramePr>
          <p:nvPr>
            <p:extLst>
              <p:ext uri="{D42A27DB-BD31-4B8C-83A1-F6EECF244321}">
                <p14:modId xmlns:p14="http://schemas.microsoft.com/office/powerpoint/2010/main" val="202942701"/>
              </p:ext>
            </p:extLst>
          </p:nvPr>
        </p:nvGraphicFramePr>
        <p:xfrm>
          <a:off x="366580" y="4253856"/>
          <a:ext cx="11458832" cy="1219200"/>
        </p:xfrm>
        <a:graphic>
          <a:graphicData uri="http://schemas.openxmlformats.org/drawingml/2006/table">
            <a:tbl>
              <a:tblPr firstRow="1" firstCol="1" bandRow="1">
                <a:tableStyleId>{5C22544A-7EE6-4342-B048-85BDC9FD1C3A}</a:tableStyleId>
              </a:tblPr>
              <a:tblGrid>
                <a:gridCol w="5729416">
                  <a:extLst>
                    <a:ext uri="{9D8B030D-6E8A-4147-A177-3AD203B41FA5}">
                      <a16:colId xmlns:a16="http://schemas.microsoft.com/office/drawing/2014/main" val="2713702577"/>
                    </a:ext>
                  </a:extLst>
                </a:gridCol>
                <a:gridCol w="5729416">
                  <a:extLst>
                    <a:ext uri="{9D8B030D-6E8A-4147-A177-3AD203B41FA5}">
                      <a16:colId xmlns:a16="http://schemas.microsoft.com/office/drawing/2014/main" val="1102063916"/>
                    </a:ext>
                  </a:extLst>
                </a:gridCol>
              </a:tblGrid>
              <a:tr h="0">
                <a:tc>
                  <a:txBody>
                    <a:bodyPr/>
                    <a:lstStyle/>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Proposed by</a:t>
                      </a:r>
                    </a:p>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Md. Al Baki Akon - CSE 02707390</a:t>
                      </a:r>
                    </a:p>
                    <a:p>
                      <a:pPr marL="0" marR="0" algn="ctr">
                        <a:lnSpc>
                          <a:spcPct val="100000"/>
                        </a:lnSpc>
                        <a:spcBef>
                          <a:spcPts val="0"/>
                        </a:spcBef>
                        <a:spcAft>
                          <a:spcPts val="0"/>
                        </a:spcAft>
                      </a:pPr>
                      <a:r>
                        <a:rPr lang="en-US" sz="1600" b="0" dirty="0" err="1">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Anik</a:t>
                      </a: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Chakraborty - CSE 02807558</a:t>
                      </a:r>
                    </a:p>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a:t>
                      </a:r>
                    </a:p>
                  </a:txBody>
                  <a:tcPr marL="68580" marR="68580" marT="0" marB="0" anchor="ctr">
                    <a:solidFill>
                      <a:schemeClr val="bg1"/>
                    </a:solidFill>
                  </a:tcPr>
                </a:tc>
                <a:tc>
                  <a:txBody>
                    <a:bodyPr/>
                    <a:lstStyle/>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Under the supervision of</a:t>
                      </a:r>
                    </a:p>
                    <a:p>
                      <a:pPr marL="0" marR="0" algn="ctr">
                        <a:lnSpc>
                          <a:spcPct val="100000"/>
                        </a:lnSpc>
                        <a:spcBef>
                          <a:spcPts val="0"/>
                        </a:spcBef>
                        <a:spcAft>
                          <a:spcPts val="0"/>
                        </a:spcAft>
                      </a:pPr>
                      <a:r>
                        <a:rPr lang="en-US" sz="1600" b="1" dirty="0" err="1">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Ratul</a:t>
                      </a:r>
                      <a:r>
                        <a:rPr lang="en-US" sz="1600" b="1"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a:t>
                      </a:r>
                      <a:r>
                        <a:rPr lang="en-US" sz="1600" b="1" dirty="0" err="1">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Barua</a:t>
                      </a:r>
                      <a:endParaRPr lang="en-US" sz="1600" b="1"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endParaRPr>
                    </a:p>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Lecturer, Dept. of Computer Science and Engineering,</a:t>
                      </a:r>
                    </a:p>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Port City International University</a:t>
                      </a:r>
                    </a:p>
                    <a:p>
                      <a:pPr marL="0" marR="0" algn="ctr">
                        <a:lnSpc>
                          <a:spcPct val="100000"/>
                        </a:lnSpc>
                        <a:spcBef>
                          <a:spcPts val="0"/>
                        </a:spcBef>
                        <a:spcAft>
                          <a:spcPts val="0"/>
                        </a:spcAft>
                      </a:pPr>
                      <a:r>
                        <a:rPr lang="en-US" sz="1600" b="0" dirty="0">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a:t>
                      </a:r>
                    </a:p>
                  </a:txBody>
                  <a:tcPr marL="68580" marR="68580" marT="0" marB="0" anchor="ctr">
                    <a:solidFill>
                      <a:schemeClr val="bg1"/>
                    </a:solidFill>
                  </a:tcPr>
                </a:tc>
                <a:extLst>
                  <a:ext uri="{0D108BD9-81ED-4DB2-BD59-A6C34878D82A}">
                    <a16:rowId xmlns:a16="http://schemas.microsoft.com/office/drawing/2014/main" val="3351731418"/>
                  </a:ext>
                </a:extLst>
              </a:tr>
            </a:tbl>
          </a:graphicData>
        </a:graphic>
      </p:graphicFrame>
    </p:spTree>
    <p:extLst>
      <p:ext uri="{BB962C8B-B14F-4D97-AF65-F5344CB8AC3E}">
        <p14:creationId xmlns:p14="http://schemas.microsoft.com/office/powerpoint/2010/main" val="3023784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Contents</a:t>
            </a:r>
          </a:p>
        </p:txBody>
      </p:sp>
      <p:sp>
        <p:nvSpPr>
          <p:cNvPr id="3" name="Subtitle 2">
            <a:extLst>
              <a:ext uri="{FF2B5EF4-FFF2-40B4-BE49-F238E27FC236}">
                <a16:creationId xmlns:a16="http://schemas.microsoft.com/office/drawing/2014/main" id="{1F8515F8-44D0-4056-98CD-F90946F24765}"/>
              </a:ext>
            </a:extLst>
          </p:cNvPr>
          <p:cNvSpPr>
            <a:spLocks noGrp="1"/>
          </p:cNvSpPr>
          <p:nvPr>
            <p:ph type="subTitle" idx="1"/>
          </p:nvPr>
        </p:nvSpPr>
        <p:spPr>
          <a:xfrm>
            <a:off x="1523999" y="972066"/>
            <a:ext cx="9144000" cy="5296929"/>
          </a:xfrm>
        </p:spPr>
        <p:txBody>
          <a:bodyPr anchor="ctr">
            <a:noAutofit/>
          </a:bodyPr>
          <a:lstStyle/>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Introduction</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Problem Statement</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Motivations</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Objectives</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Related Work</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Required Tools</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Methodology</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Dataset</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Model &amp; Result</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Comparative Analysis</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Conclusion &amp; Future Work</a:t>
            </a:r>
          </a:p>
          <a:p>
            <a:pPr marL="342900" indent="-342900" algn="l">
              <a:lnSpc>
                <a:spcPct val="100000"/>
              </a:lnSpc>
              <a:spcBef>
                <a:spcPts val="1200"/>
              </a:spcBef>
              <a:buFont typeface="Wingdings" panose="05000000000000000000" pitchFamily="2" charset="2"/>
              <a:buChar char="q"/>
            </a:pPr>
            <a:r>
              <a:rPr lang="en-US" sz="1600" dirty="0">
                <a:latin typeface="Lato Medium" panose="020F0502020204030203" pitchFamily="34" charset="0"/>
                <a:ea typeface="Lato Medium" panose="020F0502020204030203" pitchFamily="34" charset="0"/>
                <a:cs typeface="Lato Medium" panose="020F0502020204030203" pitchFamily="34" charset="0"/>
              </a:rPr>
              <a:t>References</a:t>
            </a:r>
          </a:p>
          <a:p>
            <a:pPr marL="285750" indent="-285750" algn="l">
              <a:lnSpc>
                <a:spcPct val="100000"/>
              </a:lnSpc>
              <a:spcBef>
                <a:spcPts val="0"/>
              </a:spcBef>
              <a:buFont typeface="Wingdings" panose="05000000000000000000" pitchFamily="2" charset="2"/>
              <a:buChar char="q"/>
            </a:pP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sp>
        <p:nvSpPr>
          <p:cNvPr id="4" name="Rectangle 3">
            <a:extLst>
              <a:ext uri="{FF2B5EF4-FFF2-40B4-BE49-F238E27FC236}">
                <a16:creationId xmlns:a16="http://schemas.microsoft.com/office/drawing/2014/main" id="{F23EE521-F97B-4C44-B1B2-B1574C85019D}"/>
              </a:ext>
            </a:extLst>
          </p:cNvPr>
          <p:cNvSpPr/>
          <p:nvPr/>
        </p:nvSpPr>
        <p:spPr>
          <a:xfrm>
            <a:off x="6232169" y="5127965"/>
            <a:ext cx="4435830" cy="246221"/>
          </a:xfrm>
          <a:prstGeom prst="rect">
            <a:avLst/>
          </a:prstGeom>
        </p:spPr>
        <p:txBody>
          <a:bodyPr wrap="none">
            <a:spAutoFit/>
          </a:bodyPr>
          <a:lstStyle/>
          <a:p>
            <a:pPr algn="ctr"/>
            <a:r>
              <a:rPr lang="en-US" sz="1000"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https://memes.memedroid.com/images/2026-05-25/6a140204b4897.jpeg</a:t>
            </a:r>
          </a:p>
        </p:txBody>
      </p:sp>
      <p:pic>
        <p:nvPicPr>
          <p:cNvPr id="9" name="Picture 8">
            <a:extLst>
              <a:ext uri="{FF2B5EF4-FFF2-40B4-BE49-F238E27FC236}">
                <a16:creationId xmlns:a16="http://schemas.microsoft.com/office/drawing/2014/main" id="{91293BE3-C2DB-D82F-1647-D829BF874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280" y="1866874"/>
            <a:ext cx="4423719" cy="3124252"/>
          </a:xfrm>
          <a:prstGeom prst="rect">
            <a:avLst/>
          </a:prstGeom>
        </p:spPr>
      </p:pic>
    </p:spTree>
    <p:extLst>
      <p:ext uri="{BB962C8B-B14F-4D97-AF65-F5344CB8AC3E}">
        <p14:creationId xmlns:p14="http://schemas.microsoft.com/office/powerpoint/2010/main" val="4187916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646670" y="1784442"/>
            <a:ext cx="10898659"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Introduction</a:t>
            </a:r>
          </a:p>
        </p:txBody>
      </p:sp>
      <p:sp>
        <p:nvSpPr>
          <p:cNvPr id="3" name="Subtitle 2">
            <a:extLst>
              <a:ext uri="{FF2B5EF4-FFF2-40B4-BE49-F238E27FC236}">
                <a16:creationId xmlns:a16="http://schemas.microsoft.com/office/drawing/2014/main" id="{1F8515F8-44D0-4056-98CD-F90946F24765}"/>
              </a:ext>
            </a:extLst>
          </p:cNvPr>
          <p:cNvSpPr>
            <a:spLocks noGrp="1"/>
          </p:cNvSpPr>
          <p:nvPr>
            <p:ph type="subTitle" idx="1"/>
          </p:nvPr>
        </p:nvSpPr>
        <p:spPr>
          <a:xfrm>
            <a:off x="646670" y="1315047"/>
            <a:ext cx="10898659" cy="4227906"/>
          </a:xfrm>
        </p:spPr>
        <p:txBody>
          <a:bodyPr anchor="ctr">
            <a:noAutofit/>
          </a:bodyPr>
          <a:lstStyle/>
          <a:p>
            <a:pPr algn="just">
              <a:lnSpc>
                <a:spcPct val="150000"/>
              </a:lnSpc>
              <a:spcBef>
                <a:spcPts val="1200"/>
              </a:spcBef>
            </a:pPr>
            <a:r>
              <a:rPr lang="en-US" sz="1600" dirty="0">
                <a:latin typeface="Lato Medium" panose="020F0502020204030203" pitchFamily="34" charset="0"/>
                <a:ea typeface="Lato Medium" panose="020F0502020204030203" pitchFamily="34" charset="0"/>
                <a:cs typeface="Lato Medium" panose="020F0502020204030203" pitchFamily="34" charset="0"/>
              </a:rPr>
              <a:t>Large Language Models (LLMs) generate highly fluent and rational text, but often they are prone to produce incorrect or fabricated information with high confidence, known as hallucinations. This limits their reliability in real-world applications where factual accuracy is essential. Therefore, improving the detection and reduction of hallucinations has become a key focus in making LLMs more trustworthy and effective.</a:t>
            </a:r>
          </a:p>
        </p:txBody>
      </p:sp>
      <p:sp>
        <p:nvSpPr>
          <p:cNvPr id="5" name="Rectangle 4">
            <a:extLst>
              <a:ext uri="{FF2B5EF4-FFF2-40B4-BE49-F238E27FC236}">
                <a16:creationId xmlns:a16="http://schemas.microsoft.com/office/drawing/2014/main" id="{A1F740AD-4BCA-4E30-925D-84CC141EA94D}"/>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01</a:t>
            </a:r>
          </a:p>
        </p:txBody>
      </p:sp>
    </p:spTree>
    <p:extLst>
      <p:ext uri="{BB962C8B-B14F-4D97-AF65-F5344CB8AC3E}">
        <p14:creationId xmlns:p14="http://schemas.microsoft.com/office/powerpoint/2010/main" val="2454716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420130" y="1784442"/>
            <a:ext cx="1135174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Problem Statement</a:t>
            </a:r>
          </a:p>
        </p:txBody>
      </p:sp>
      <p:sp>
        <p:nvSpPr>
          <p:cNvPr id="3" name="Subtitle 2">
            <a:extLst>
              <a:ext uri="{FF2B5EF4-FFF2-40B4-BE49-F238E27FC236}">
                <a16:creationId xmlns:a16="http://schemas.microsoft.com/office/drawing/2014/main" id="{1F8515F8-44D0-4056-98CD-F90946F24765}"/>
              </a:ext>
            </a:extLst>
          </p:cNvPr>
          <p:cNvSpPr>
            <a:spLocks noGrp="1"/>
          </p:cNvSpPr>
          <p:nvPr>
            <p:ph type="subTitle" idx="1"/>
          </p:nvPr>
        </p:nvSpPr>
        <p:spPr>
          <a:xfrm>
            <a:off x="1639329" y="1315047"/>
            <a:ext cx="8913341" cy="4227906"/>
          </a:xfrm>
        </p:spPr>
        <p:txBody>
          <a:bodyPr anchor="ctr">
            <a:noAutofit/>
          </a:bodyPr>
          <a:lstStyle/>
          <a:p>
            <a:pPr algn="just">
              <a:lnSpc>
                <a:spcPct val="150000"/>
              </a:lnSpc>
              <a:spcBef>
                <a:spcPts val="1200"/>
              </a:spcBef>
            </a:pPr>
            <a:r>
              <a:rPr lang="en-US" sz="1600" dirty="0">
                <a:latin typeface="Lato Medium" panose="020F0502020204030203" pitchFamily="34" charset="0"/>
                <a:ea typeface="Lato Medium" panose="020F0502020204030203" pitchFamily="34" charset="0"/>
                <a:cs typeface="Lato Medium" panose="020F0502020204030203" pitchFamily="34" charset="0"/>
              </a:rPr>
              <a:t>Large Language Models (LLMs) produce fluent text but often confidently hallucinate facts, limiting real-world reliability and requiring systematic methods to reduce these errors to improve overall accuracy.</a:t>
            </a:r>
          </a:p>
        </p:txBody>
      </p:sp>
      <p:sp>
        <p:nvSpPr>
          <p:cNvPr id="4" name="Rectangle 3">
            <a:extLst>
              <a:ext uri="{FF2B5EF4-FFF2-40B4-BE49-F238E27FC236}">
                <a16:creationId xmlns:a16="http://schemas.microsoft.com/office/drawing/2014/main" id="{30277888-343C-985A-AF6C-CE5F96E0D7D1}"/>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02</a:t>
            </a:r>
          </a:p>
        </p:txBody>
      </p:sp>
    </p:spTree>
    <p:extLst>
      <p:ext uri="{BB962C8B-B14F-4D97-AF65-F5344CB8AC3E}">
        <p14:creationId xmlns:p14="http://schemas.microsoft.com/office/powerpoint/2010/main" val="7652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0EBE6D9-90FD-4CBA-8F98-4D4F3A8A2697}"/>
              </a:ext>
            </a:extLst>
          </p:cNvPr>
          <p:cNvSpPr>
            <a:spLocks noGrp="1" noChangeArrowheads="1"/>
          </p:cNvSpPr>
          <p:nvPr>
            <p:ph type="subTitle" idx="1"/>
          </p:nvPr>
        </p:nvSpPr>
        <p:spPr bwMode="auto">
          <a:xfrm>
            <a:off x="1102171" y="2591527"/>
            <a:ext cx="9987658" cy="1674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ts val="600"/>
              </a:spcBef>
              <a:spcAft>
                <a:spcPct val="0"/>
              </a:spcAft>
              <a:buClrTx/>
              <a:buSzTx/>
              <a:buFont typeface="Arial" panose="020B0604020202020204" pitchFamily="34" charset="0"/>
              <a:buChar char="•"/>
              <a:tabLst/>
            </a:pPr>
            <a:r>
              <a:rPr lang="en-US" sz="1600" dirty="0">
                <a:latin typeface="Lato Medium" panose="020F0502020204030203" pitchFamily="34" charset="0"/>
                <a:ea typeface="Lato Medium" panose="020F0502020204030203" pitchFamily="34" charset="0"/>
                <a:cs typeface="Lato Medium" panose="020F0502020204030203" pitchFamily="34" charset="0"/>
              </a:rPr>
              <a:t>LLMs confidently provide wrong hallucinated data which limits it’s reliability.</a:t>
            </a:r>
          </a:p>
          <a:p>
            <a:pPr marL="342900" marR="0" lvl="0" indent="-342900" algn="just" defTabSz="914400" rtl="0" eaLnBrk="0" fontAlgn="base" latinLnBrk="0" hangingPunct="0">
              <a:lnSpc>
                <a:spcPct val="150000"/>
              </a:lnSpc>
              <a:spcBef>
                <a:spcPts val="600"/>
              </a:spcBef>
              <a:spcAft>
                <a:spcPct val="0"/>
              </a:spcAft>
              <a:buClrTx/>
              <a:buSzTx/>
              <a:buFont typeface="Arial" panose="020B0604020202020204" pitchFamily="34" charset="0"/>
              <a:buChar char="•"/>
              <a:tabLst/>
            </a:pPr>
            <a:r>
              <a:rPr lang="en-US" sz="1600" dirty="0">
                <a:latin typeface="Lato Medium" panose="020F0502020204030203" pitchFamily="34" charset="0"/>
                <a:ea typeface="Lato Medium" panose="020F0502020204030203" pitchFamily="34" charset="0"/>
                <a:cs typeface="Lato Medium" panose="020F0502020204030203" pitchFamily="34" charset="0"/>
              </a:rPr>
              <a:t>Most existing solutions are either too expensive or require reworking the whole model from scratch.</a:t>
            </a:r>
          </a:p>
          <a:p>
            <a:pPr marL="342900" marR="0" lvl="0" indent="-342900" algn="just" defTabSz="914400" rtl="0" eaLnBrk="0" fontAlgn="base" latinLnBrk="0" hangingPunct="0">
              <a:lnSpc>
                <a:spcPct val="150000"/>
              </a:lnSpc>
              <a:spcBef>
                <a:spcPts val="600"/>
              </a:spcBef>
              <a:spcAft>
                <a:spcPct val="0"/>
              </a:spcAft>
              <a:buClrTx/>
              <a:buSzTx/>
              <a:buFont typeface="Arial" panose="020B0604020202020204" pitchFamily="34" charset="0"/>
              <a:buChar char="•"/>
              <a:tabLst/>
            </a:pPr>
            <a:r>
              <a:rPr lang="en-US" sz="1600" dirty="0">
                <a:latin typeface="Lato Medium" panose="020F0502020204030203" pitchFamily="34" charset="0"/>
                <a:ea typeface="Lato Medium" panose="020F0502020204030203" pitchFamily="34" charset="0"/>
                <a:cs typeface="Lato Medium" panose="020F0502020204030203" pitchFamily="34" charset="0"/>
              </a:rPr>
              <a:t>Baseline approaches use two full-sized LLMs, one as the expert and another fully fine-tuned model as the amateur reference which is overkill in terms of storage and computational cost.</a:t>
            </a:r>
          </a:p>
        </p:txBody>
      </p:sp>
      <p:sp>
        <p:nvSpPr>
          <p:cNvPr id="3" name="Rectangle 2">
            <a:extLst>
              <a:ext uri="{FF2B5EF4-FFF2-40B4-BE49-F238E27FC236}">
                <a16:creationId xmlns:a16="http://schemas.microsoft.com/office/drawing/2014/main" id="{CD94B1E2-63B6-3A25-9D94-D162311C531D}"/>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03</a:t>
            </a:r>
          </a:p>
        </p:txBody>
      </p:sp>
      <p:sp>
        <p:nvSpPr>
          <p:cNvPr id="7" name="Title 1">
            <a:extLst>
              <a:ext uri="{FF2B5EF4-FFF2-40B4-BE49-F238E27FC236}">
                <a16:creationId xmlns:a16="http://schemas.microsoft.com/office/drawing/2014/main" id="{D0909022-A3AF-E08A-AC2C-F83FA88543B9}"/>
              </a:ext>
            </a:extLst>
          </p:cNvPr>
          <p:cNvSpPr txBox="1">
            <a:spLocks/>
          </p:cNvSpPr>
          <p:nvPr/>
        </p:nvSpPr>
        <p:spPr>
          <a:xfrm>
            <a:off x="420130" y="1784442"/>
            <a:ext cx="11351740" cy="3830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latin typeface="Lato Black" panose="020F0502020204030203" pitchFamily="34" charset="0"/>
                <a:ea typeface="Lato Black" panose="020F0502020204030203" pitchFamily="34" charset="0"/>
                <a:cs typeface="Lato Black" panose="020F0502020204030203" pitchFamily="34" charset="0"/>
              </a:rPr>
              <a:t>Motivations</a:t>
            </a:r>
          </a:p>
        </p:txBody>
      </p:sp>
    </p:spTree>
    <p:extLst>
      <p:ext uri="{BB962C8B-B14F-4D97-AF65-F5344CB8AC3E}">
        <p14:creationId xmlns:p14="http://schemas.microsoft.com/office/powerpoint/2010/main" val="483254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DBAFCB-6B78-B65B-5E8A-81A440634461}"/>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04</a:t>
            </a:r>
          </a:p>
        </p:txBody>
      </p:sp>
      <p:sp>
        <p:nvSpPr>
          <p:cNvPr id="5" name="Rectangle 2">
            <a:extLst>
              <a:ext uri="{FF2B5EF4-FFF2-40B4-BE49-F238E27FC236}">
                <a16:creationId xmlns:a16="http://schemas.microsoft.com/office/drawing/2014/main" id="{CEEBD2D7-CBE9-6646-1234-C5F08D2034F4}"/>
              </a:ext>
            </a:extLst>
          </p:cNvPr>
          <p:cNvSpPr>
            <a:spLocks noGrp="1" noChangeArrowheads="1"/>
          </p:cNvSpPr>
          <p:nvPr>
            <p:ph type="subTitle" idx="1"/>
          </p:nvPr>
        </p:nvSpPr>
        <p:spPr bwMode="auto">
          <a:xfrm>
            <a:off x="1116227" y="2668471"/>
            <a:ext cx="9959546" cy="152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To train an amateur </a:t>
            </a:r>
            <a:r>
              <a:rPr lang="en-US" sz="1600" i="0" dirty="0">
                <a:effectLst/>
                <a:latin typeface="Lato Medium" panose="020F0502020204030203" pitchFamily="34" charset="0"/>
                <a:ea typeface="Lato Medium" panose="020F0502020204030203" pitchFamily="34" charset="0"/>
                <a:cs typeface="Lato Medium" panose="020F0502020204030203" pitchFamily="34" charset="0"/>
              </a:rPr>
              <a:t>Low-rank Adaptation</a:t>
            </a: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 (</a:t>
            </a:r>
            <a:r>
              <a:rPr kumimoji="0" lang="en-US" altLang="en-US" sz="1600" i="0" u="none" strike="noStrike" cap="none" normalizeH="0" baseline="0" dirty="0" err="1">
                <a:ln>
                  <a:noFill/>
                </a:ln>
                <a:effectLst/>
                <a:latin typeface="Lato Medium" panose="020F0502020204030203" pitchFamily="34" charset="0"/>
                <a:ea typeface="Lato Medium" panose="020F0502020204030203" pitchFamily="34" charset="0"/>
                <a:cs typeface="Lato Medium" panose="020F0502020204030203" pitchFamily="34" charset="0"/>
              </a:rPr>
              <a:t>LoRA</a:t>
            </a: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 adapter on false QA, dialogue, text-summarization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To use that amateur to suppress hallucinated outputs by subtracting its logit influence from the</a:t>
            </a:r>
            <a:r>
              <a:rPr lang="en-US" altLang="en-US" sz="1600" dirty="0">
                <a:latin typeface="Lato Medium" panose="020F0502020204030203" pitchFamily="34" charset="0"/>
                <a:ea typeface="Lato Medium" panose="020F0502020204030203" pitchFamily="34" charset="0"/>
                <a:cs typeface="Lato Medium" panose="020F0502020204030203" pitchFamily="34" charset="0"/>
              </a:rPr>
              <a:t> main</a:t>
            </a: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 LLM.</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To introduce a dynamic alpha selection that finds the best contrastive strength per question.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To evaluate the framework on </a:t>
            </a:r>
            <a:r>
              <a:rPr kumimoji="0" lang="en-US" altLang="en-US" sz="1600" i="0" u="none" strike="noStrike" cap="none" normalizeH="0" baseline="0" dirty="0" err="1">
                <a:ln>
                  <a:noFill/>
                </a:ln>
                <a:effectLst/>
                <a:latin typeface="Lato Medium" panose="020F0502020204030203" pitchFamily="34" charset="0"/>
                <a:ea typeface="Lato Medium" panose="020F0502020204030203" pitchFamily="34" charset="0"/>
                <a:cs typeface="Lato Medium" panose="020F0502020204030203" pitchFamily="34" charset="0"/>
              </a:rPr>
              <a:t>TruthfulQA</a:t>
            </a:r>
            <a:r>
              <a:rPr kumimoji="0" lang="en-US" altLang="en-US" sz="1600" i="0" u="none" strike="noStrike" cap="none" normalizeH="0" baseline="0" dirty="0">
                <a:ln>
                  <a:noFill/>
                </a:ln>
                <a:effectLst/>
                <a:latin typeface="Lato Medium" panose="020F0502020204030203" pitchFamily="34" charset="0"/>
                <a:ea typeface="Lato Medium" panose="020F0502020204030203" pitchFamily="34" charset="0"/>
                <a:cs typeface="Lato Medium" panose="020F0502020204030203" pitchFamily="34" charset="0"/>
              </a:rPr>
              <a:t>.</a:t>
            </a:r>
          </a:p>
        </p:txBody>
      </p:sp>
      <p:sp>
        <p:nvSpPr>
          <p:cNvPr id="7" name="Title 1">
            <a:extLst>
              <a:ext uri="{FF2B5EF4-FFF2-40B4-BE49-F238E27FC236}">
                <a16:creationId xmlns:a16="http://schemas.microsoft.com/office/drawing/2014/main" id="{8CA6A28B-2C70-4DEB-F1E1-B0C5D8930486}"/>
              </a:ext>
            </a:extLst>
          </p:cNvPr>
          <p:cNvSpPr txBox="1">
            <a:spLocks/>
          </p:cNvSpPr>
          <p:nvPr/>
        </p:nvSpPr>
        <p:spPr>
          <a:xfrm>
            <a:off x="420130" y="1784442"/>
            <a:ext cx="11351740" cy="3830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latin typeface="Lato Black" panose="020F0502020204030203" pitchFamily="34" charset="0"/>
                <a:ea typeface="Lato Black" panose="020F0502020204030203" pitchFamily="34" charset="0"/>
                <a:cs typeface="Lato Black" panose="020F0502020204030203" pitchFamily="34" charset="0"/>
              </a:rPr>
              <a:t>Objectives</a:t>
            </a:r>
          </a:p>
        </p:txBody>
      </p:sp>
    </p:spTree>
    <p:extLst>
      <p:ext uri="{BB962C8B-B14F-4D97-AF65-F5344CB8AC3E}">
        <p14:creationId xmlns:p14="http://schemas.microsoft.com/office/powerpoint/2010/main" val="209020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3998" y="325484"/>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Related Work</a:t>
            </a:r>
          </a:p>
        </p:txBody>
      </p:sp>
      <p:graphicFrame>
        <p:nvGraphicFramePr>
          <p:cNvPr id="4" name="Table 3">
            <a:extLst>
              <a:ext uri="{FF2B5EF4-FFF2-40B4-BE49-F238E27FC236}">
                <a16:creationId xmlns:a16="http://schemas.microsoft.com/office/drawing/2014/main" id="{DD48D596-4A72-4F8E-8DA3-ABC102D221B6}"/>
              </a:ext>
            </a:extLst>
          </p:cNvPr>
          <p:cNvGraphicFramePr>
            <a:graphicFrameLocks noGrp="1"/>
          </p:cNvGraphicFramePr>
          <p:nvPr>
            <p:extLst>
              <p:ext uri="{D42A27DB-BD31-4B8C-83A1-F6EECF244321}">
                <p14:modId xmlns:p14="http://schemas.microsoft.com/office/powerpoint/2010/main" val="722314596"/>
              </p:ext>
            </p:extLst>
          </p:nvPr>
        </p:nvGraphicFramePr>
        <p:xfrm>
          <a:off x="349949" y="790832"/>
          <a:ext cx="11492097" cy="5638800"/>
        </p:xfrm>
        <a:graphic>
          <a:graphicData uri="http://schemas.openxmlformats.org/drawingml/2006/table">
            <a:tbl>
              <a:tblPr firstRow="1" bandRow="1">
                <a:tableStyleId>{0505E3EF-67EA-436B-97B2-0124C06EBD24}</a:tableStyleId>
              </a:tblPr>
              <a:tblGrid>
                <a:gridCol w="523262">
                  <a:extLst>
                    <a:ext uri="{9D8B030D-6E8A-4147-A177-3AD203B41FA5}">
                      <a16:colId xmlns:a16="http://schemas.microsoft.com/office/drawing/2014/main" val="2594877742"/>
                    </a:ext>
                  </a:extLst>
                </a:gridCol>
                <a:gridCol w="1548713">
                  <a:extLst>
                    <a:ext uri="{9D8B030D-6E8A-4147-A177-3AD203B41FA5}">
                      <a16:colId xmlns:a16="http://schemas.microsoft.com/office/drawing/2014/main" val="704370945"/>
                    </a:ext>
                  </a:extLst>
                </a:gridCol>
                <a:gridCol w="1079157">
                  <a:extLst>
                    <a:ext uri="{9D8B030D-6E8A-4147-A177-3AD203B41FA5}">
                      <a16:colId xmlns:a16="http://schemas.microsoft.com/office/drawing/2014/main" val="3210173272"/>
                    </a:ext>
                  </a:extLst>
                </a:gridCol>
                <a:gridCol w="1079157">
                  <a:extLst>
                    <a:ext uri="{9D8B030D-6E8A-4147-A177-3AD203B41FA5}">
                      <a16:colId xmlns:a16="http://schemas.microsoft.com/office/drawing/2014/main" val="3405348862"/>
                    </a:ext>
                  </a:extLst>
                </a:gridCol>
                <a:gridCol w="1524000">
                  <a:extLst>
                    <a:ext uri="{9D8B030D-6E8A-4147-A177-3AD203B41FA5}">
                      <a16:colId xmlns:a16="http://schemas.microsoft.com/office/drawing/2014/main" val="177285924"/>
                    </a:ext>
                  </a:extLst>
                </a:gridCol>
                <a:gridCol w="5737808">
                  <a:extLst>
                    <a:ext uri="{9D8B030D-6E8A-4147-A177-3AD203B41FA5}">
                      <a16:colId xmlns:a16="http://schemas.microsoft.com/office/drawing/2014/main" val="60970714"/>
                    </a:ext>
                  </a:extLst>
                </a:gridCol>
              </a:tblGrid>
              <a:tr h="573723">
                <a:tc>
                  <a:txBody>
                    <a:bodyPr/>
                    <a:lstStyle/>
                    <a:p>
                      <a:pPr algn="l"/>
                      <a:r>
                        <a:rPr lang="en-US" sz="1600" dirty="0" err="1">
                          <a:latin typeface="Lato Medium" panose="020F0502020204030203" pitchFamily="34" charset="0"/>
                          <a:ea typeface="Lato Medium" panose="020F0502020204030203" pitchFamily="34" charset="0"/>
                          <a:cs typeface="Lato Medium" panose="020F0502020204030203" pitchFamily="34" charset="0"/>
                        </a:rPr>
                        <a:t>Sl</a:t>
                      </a:r>
                      <a:r>
                        <a:rPr lang="en-US" sz="1600" dirty="0">
                          <a:latin typeface="Lato Medium" panose="020F0502020204030203" pitchFamily="34" charset="0"/>
                          <a:ea typeface="Lato Medium" panose="020F0502020204030203" pitchFamily="34" charset="0"/>
                          <a:cs typeface="Lato Medium" panose="020F0502020204030203" pitchFamily="34" charset="0"/>
                        </a:rPr>
                        <a:t> No.</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Title</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Authors</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Published (at/year)</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Dataset</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Findings</a:t>
                      </a:r>
                    </a:p>
                  </a:txBody>
                  <a:tcPr/>
                </a:tc>
                <a:extLst>
                  <a:ext uri="{0D108BD9-81ED-4DB2-BD59-A6C34878D82A}">
                    <a16:rowId xmlns:a16="http://schemas.microsoft.com/office/drawing/2014/main" val="3649264189"/>
                  </a:ext>
                </a:extLst>
              </a:tr>
              <a:tr h="2051926">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01</a:t>
                      </a:r>
                    </a:p>
                  </a:txBody>
                  <a:tcPr/>
                </a:tc>
                <a:tc>
                  <a:txBody>
                    <a:bodyPr/>
                    <a:lstStyle/>
                    <a:p>
                      <a:pPr algn="l"/>
                      <a:r>
                        <a:rPr lang="en-US" sz="1600">
                          <a:latin typeface="Lato Medium" panose="020F0502020204030203" pitchFamily="34" charset="0"/>
                          <a:ea typeface="Lato Medium" panose="020F0502020204030203" pitchFamily="34" charset="0"/>
                          <a:cs typeface="Lato Medium" panose="020F0502020204030203" pitchFamily="34" charset="0"/>
                        </a:rPr>
                        <a:t>LoFiT: Localized Fine-Tuning on LLM Representations</a:t>
                      </a:r>
                      <a:endParaRPr lang="en-US" sz="1600" b="0" i="0" kern="1200" dirty="0">
                        <a:solidFill>
                          <a:schemeClr val="dk1"/>
                        </a:solidFill>
                        <a:effectLst/>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Yin et al.</a:t>
                      </a:r>
                    </a:p>
                  </a:txBody>
                  <a:tcPr/>
                </a:tc>
                <a:tc>
                  <a:txBody>
                    <a:bodyPr/>
                    <a:lstStyle/>
                    <a:p>
                      <a:pPr algn="l"/>
                      <a:r>
                        <a:rPr lang="en-US" sz="1600" dirty="0" err="1">
                          <a:latin typeface="Lato Medium" panose="020F0502020204030203" pitchFamily="34" charset="0"/>
                          <a:ea typeface="Lato Medium" panose="020F0502020204030203" pitchFamily="34" charset="0"/>
                          <a:cs typeface="Lato Medium" panose="020F0502020204030203" pitchFamily="34" charset="0"/>
                        </a:rPr>
                        <a:t>NeurIPS</a:t>
                      </a:r>
                      <a:r>
                        <a:rPr lang="en-US" sz="1600" dirty="0">
                          <a:latin typeface="Lato Medium" panose="020F0502020204030203" pitchFamily="34" charset="0"/>
                          <a:ea typeface="Lato Medium" panose="020F0502020204030203" pitchFamily="34" charset="0"/>
                          <a:cs typeface="Lato Medium" panose="020F0502020204030203" pitchFamily="34" charset="0"/>
                        </a:rPr>
                        <a:t> 2024</a:t>
                      </a:r>
                    </a:p>
                  </a:txBody>
                  <a:tcPr/>
                </a:tc>
                <a:tc>
                  <a:txBody>
                    <a:bodyPr/>
                    <a:lstStyle/>
                    <a:p>
                      <a:pPr algn="l"/>
                      <a:r>
                        <a:rPr lang="en-US" sz="1600">
                          <a:latin typeface="Lato Medium" panose="020F0502020204030203" pitchFamily="34" charset="0"/>
                          <a:ea typeface="Lato Medium" panose="020F0502020204030203" pitchFamily="34" charset="0"/>
                          <a:cs typeface="Lato Medium" panose="020F0502020204030203" pitchFamily="34" charset="0"/>
                        </a:rPr>
                        <a:t>TruthfulQA, MQuAKE, CLUTRR, SIQA, ARC-Challenge, BoolQ, SVAMP</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Algorithm / Methodology: </a:t>
                      </a:r>
                      <a:r>
                        <a:rPr lang="en-US" sz="1600" dirty="0">
                          <a:latin typeface="Lato Medium" panose="020F0502020204030203" pitchFamily="34" charset="0"/>
                          <a:ea typeface="Lato Medium" panose="020F0502020204030203" pitchFamily="34" charset="0"/>
                          <a:cs typeface="Lato Medium" panose="020F0502020204030203" pitchFamily="34" charset="0"/>
                        </a:rPr>
                        <a:t>A two-step framework that selects the top-K most important attention heads (3–10%) via learned scaling factors, then fine-tunes small bias vectors only at those heads — all pretrained weights stay frozen throughout.</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Performance: </a:t>
                      </a:r>
                      <a:r>
                        <a:rPr lang="en-US" sz="1600" dirty="0">
                          <a:latin typeface="Lato Medium" panose="020F0502020204030203" pitchFamily="34" charset="0"/>
                          <a:ea typeface="Lato Medium" panose="020F0502020204030203" pitchFamily="34" charset="0"/>
                          <a:cs typeface="Lato Medium" panose="020F0502020204030203" pitchFamily="34" charset="0"/>
                        </a:rPr>
                        <a:t>MC1: 54.50%, MC2: 74.90%, MC3: 64.70%</a:t>
                      </a:r>
                      <a:br>
                        <a:rPr lang="en-US" sz="1600" dirty="0">
                          <a:latin typeface="Lato Medium" panose="020F0502020204030203" pitchFamily="34" charset="0"/>
                          <a:ea typeface="Lato Medium" panose="020F0502020204030203" pitchFamily="34" charset="0"/>
                          <a:cs typeface="Lato Medium" panose="020F0502020204030203" pitchFamily="34" charset="0"/>
                        </a:rPr>
                      </a:br>
                      <a:r>
                        <a:rPr lang="en-US" sz="1600" b="1" dirty="0">
                          <a:latin typeface="Lato Medium" panose="020F0502020204030203" pitchFamily="34" charset="0"/>
                          <a:ea typeface="Lato Medium" panose="020F0502020204030203" pitchFamily="34" charset="0"/>
                          <a:cs typeface="Lato Medium" panose="020F0502020204030203" pitchFamily="34" charset="0"/>
                        </a:rPr>
                        <a:t>Study Gap: </a:t>
                      </a:r>
                      <a:r>
                        <a:rPr lang="en-US" sz="1600" dirty="0">
                          <a:latin typeface="Lato Medium" panose="020F0502020204030203" pitchFamily="34" charset="0"/>
                          <a:ea typeface="Lato Medium" panose="020F0502020204030203" pitchFamily="34" charset="0"/>
                          <a:cs typeface="Lato Medium" panose="020F0502020204030203" pitchFamily="34" charset="0"/>
                        </a:rPr>
                        <a:t>Limited to English, short-context tasks, and models up to 13B behavior at larger scales and for long-form generation remains unexplored. Cross-lingual generalization is not evaluated.</a:t>
                      </a:r>
                    </a:p>
                  </a:txBody>
                  <a:tcPr/>
                </a:tc>
                <a:extLst>
                  <a:ext uri="{0D108BD9-81ED-4DB2-BD59-A6C34878D82A}">
                    <a16:rowId xmlns:a16="http://schemas.microsoft.com/office/drawing/2014/main" val="915579475"/>
                  </a:ext>
                </a:extLst>
              </a:tr>
              <a:tr h="2051926">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02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Lato Medium" panose="020F0502020204030203" pitchFamily="34" charset="0"/>
                          <a:ea typeface="Lato Medium" panose="020F0502020204030203" pitchFamily="34" charset="0"/>
                          <a:cs typeface="Lato Medium" panose="020F0502020204030203" pitchFamily="34" charset="0"/>
                        </a:rPr>
                        <a:t>SH2: Self-Highlighted Hesitation Helps You Decode More Truthfully</a:t>
                      </a:r>
                    </a:p>
                    <a:p>
                      <a:pPr algn="l"/>
                      <a:endParaRPr lang="en-US" sz="1600" b="0" i="0" kern="1200" dirty="0">
                        <a:solidFill>
                          <a:schemeClr val="dk1"/>
                        </a:solidFill>
                        <a:effectLst/>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Lato Medium" panose="020F0502020204030203" pitchFamily="34" charset="0"/>
                          <a:ea typeface="Lato Medium" panose="020F0502020204030203" pitchFamily="34" charset="0"/>
                          <a:cs typeface="Lato Medium" panose="020F0502020204030203" pitchFamily="34" charset="0"/>
                        </a:rPr>
                        <a:t>Kai et 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Lato Medium" panose="020F0502020204030203" pitchFamily="34" charset="0"/>
                          <a:ea typeface="Lato Medium" panose="020F0502020204030203" pitchFamily="34" charset="0"/>
                          <a:cs typeface="Lato Medium" panose="020F0502020204030203" pitchFamily="34" charset="0"/>
                        </a:rPr>
                        <a:t>EMNLP, 2024</a:t>
                      </a:r>
                    </a:p>
                    <a:p>
                      <a:pPr algn="l"/>
                      <a:endParaRPr lang="en-US" sz="160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600" dirty="0">
                          <a:latin typeface="Lato Medium" panose="020F0502020204030203" pitchFamily="34" charset="0"/>
                          <a:ea typeface="Lato Medium" panose="020F0502020204030203" pitchFamily="34" charset="0"/>
                          <a:cs typeface="Lato Medium" panose="020F0502020204030203" pitchFamily="34" charset="0"/>
                        </a:rPr>
                        <a:t>, FACTOR (Wiki-FACTOR and News-FACTOR), </a:t>
                      </a:r>
                      <a:r>
                        <a:rPr lang="en-US" sz="1600" dirty="0" err="1">
                          <a:latin typeface="Lato Medium" panose="020F0502020204030203" pitchFamily="34" charset="0"/>
                          <a:ea typeface="Lato Medium" panose="020F0502020204030203" pitchFamily="34" charset="0"/>
                          <a:cs typeface="Lato Medium" panose="020F0502020204030203" pitchFamily="34" charset="0"/>
                        </a:rPr>
                        <a:t>HaluEval</a:t>
                      </a:r>
                      <a:r>
                        <a:rPr lang="en-US" sz="1600" dirty="0">
                          <a:latin typeface="Lato Medium" panose="020F0502020204030203" pitchFamily="34" charset="0"/>
                          <a:ea typeface="Lato Medium" panose="020F0502020204030203" pitchFamily="34" charset="0"/>
                          <a:cs typeface="Lato Medium" panose="020F0502020204030203" pitchFamily="34" charset="0"/>
                        </a:rPr>
                        <a:t>-Sum (summarization split)</a:t>
                      </a:r>
                    </a:p>
                    <a:p>
                      <a:pPr algn="l"/>
                      <a:endParaRPr lang="en-US" sz="160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Algorithm / Methodology: </a:t>
                      </a:r>
                      <a:r>
                        <a:rPr lang="en-US" sz="1600" dirty="0">
                          <a:latin typeface="Lato Medium" panose="020F0502020204030203" pitchFamily="34" charset="0"/>
                          <a:ea typeface="Lato Medium" panose="020F0502020204030203" pitchFamily="34" charset="0"/>
                          <a:cs typeface="Lato Medium" panose="020F0502020204030203" pitchFamily="34" charset="0"/>
                        </a:rPr>
                        <a:t>An inference-time technique that extracts low-probability informative tokens, prompt to re-focus attention, then applies contrastive decoding by reweighting logits using the ratio of perturbed vs. baseline outputs.</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Performance: </a:t>
                      </a:r>
                      <a:r>
                        <a:rPr lang="en-US" sz="1600" dirty="0">
                          <a:latin typeface="Lato Medium" panose="020F0502020204030203" pitchFamily="34" charset="0"/>
                          <a:ea typeface="Lato Medium" panose="020F0502020204030203" pitchFamily="34" charset="0"/>
                          <a:cs typeface="Lato Medium" panose="020F0502020204030203" pitchFamily="34" charset="0"/>
                        </a:rPr>
                        <a:t>MC1: 33.90%, MC2: 57.07%, MC3: 29.79%</a:t>
                      </a:r>
                      <a:br>
                        <a:rPr lang="en-US" sz="1600" dirty="0">
                          <a:latin typeface="Lato Medium" panose="020F0502020204030203" pitchFamily="34" charset="0"/>
                          <a:ea typeface="Lato Medium" panose="020F0502020204030203" pitchFamily="34" charset="0"/>
                          <a:cs typeface="Lato Medium" panose="020F0502020204030203" pitchFamily="34" charset="0"/>
                        </a:rPr>
                      </a:br>
                      <a:r>
                        <a:rPr lang="en-US" sz="1600" b="1" dirty="0">
                          <a:latin typeface="Lato Medium" panose="020F0502020204030203" pitchFamily="34" charset="0"/>
                          <a:ea typeface="Lato Medium" panose="020F0502020204030203" pitchFamily="34" charset="0"/>
                          <a:cs typeface="Lato Medium" panose="020F0502020204030203" pitchFamily="34" charset="0"/>
                        </a:rPr>
                        <a:t>Study Gap: </a:t>
                      </a:r>
                      <a:r>
                        <a:rPr lang="en-US" sz="1600" dirty="0">
                          <a:latin typeface="Lato Medium" panose="020F0502020204030203" pitchFamily="34" charset="0"/>
                          <a:ea typeface="Lato Medium" panose="020F0502020204030203" pitchFamily="34" charset="0"/>
                          <a:cs typeface="Lato Medium" panose="020F0502020204030203" pitchFamily="34" charset="0"/>
                        </a:rPr>
                        <a:t>The method requires two forward passes per inference step for contrastive decoding, roughly doubling inference cost. Effects on generation diversity and factual soundness were not included in research.</a:t>
                      </a:r>
                    </a:p>
                  </a:txBody>
                  <a:tcPr/>
                </a:tc>
                <a:extLst>
                  <a:ext uri="{0D108BD9-81ED-4DB2-BD59-A6C34878D82A}">
                    <a16:rowId xmlns:a16="http://schemas.microsoft.com/office/drawing/2014/main" val="1864588982"/>
                  </a:ext>
                </a:extLst>
              </a:tr>
            </a:tbl>
          </a:graphicData>
        </a:graphic>
      </p:graphicFrame>
      <p:sp>
        <p:nvSpPr>
          <p:cNvPr id="3" name="Rectangle 2">
            <a:extLst>
              <a:ext uri="{FF2B5EF4-FFF2-40B4-BE49-F238E27FC236}">
                <a16:creationId xmlns:a16="http://schemas.microsoft.com/office/drawing/2014/main" id="{054DA237-AEE9-E10D-3DF6-F245CBEC5CC4}"/>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05</a:t>
            </a:r>
          </a:p>
        </p:txBody>
      </p:sp>
    </p:spTree>
    <p:extLst>
      <p:ext uri="{BB962C8B-B14F-4D97-AF65-F5344CB8AC3E}">
        <p14:creationId xmlns:p14="http://schemas.microsoft.com/office/powerpoint/2010/main" val="4255294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48D596-4A72-4F8E-8DA3-ABC102D221B6}"/>
              </a:ext>
            </a:extLst>
          </p:cNvPr>
          <p:cNvGraphicFramePr>
            <a:graphicFrameLocks noGrp="1"/>
          </p:cNvGraphicFramePr>
          <p:nvPr>
            <p:extLst>
              <p:ext uri="{D42A27DB-BD31-4B8C-83A1-F6EECF244321}">
                <p14:modId xmlns:p14="http://schemas.microsoft.com/office/powerpoint/2010/main" val="953217182"/>
              </p:ext>
            </p:extLst>
          </p:nvPr>
        </p:nvGraphicFramePr>
        <p:xfrm>
          <a:off x="415854" y="731520"/>
          <a:ext cx="11360292" cy="5394960"/>
        </p:xfrm>
        <a:graphic>
          <a:graphicData uri="http://schemas.openxmlformats.org/drawingml/2006/table">
            <a:tbl>
              <a:tblPr firstRow="1" bandRow="1">
                <a:tableStyleId>{0505E3EF-67EA-436B-97B2-0124C06EBD24}</a:tableStyleId>
              </a:tblPr>
              <a:tblGrid>
                <a:gridCol w="691866">
                  <a:extLst>
                    <a:ext uri="{9D8B030D-6E8A-4147-A177-3AD203B41FA5}">
                      <a16:colId xmlns:a16="http://schemas.microsoft.com/office/drawing/2014/main" val="2594877742"/>
                    </a:ext>
                  </a:extLst>
                </a:gridCol>
                <a:gridCol w="1730371">
                  <a:extLst>
                    <a:ext uri="{9D8B030D-6E8A-4147-A177-3AD203B41FA5}">
                      <a16:colId xmlns:a16="http://schemas.microsoft.com/office/drawing/2014/main" val="704370945"/>
                    </a:ext>
                  </a:extLst>
                </a:gridCol>
                <a:gridCol w="1008979">
                  <a:extLst>
                    <a:ext uri="{9D8B030D-6E8A-4147-A177-3AD203B41FA5}">
                      <a16:colId xmlns:a16="http://schemas.microsoft.com/office/drawing/2014/main" val="3210173272"/>
                    </a:ext>
                  </a:extLst>
                </a:gridCol>
                <a:gridCol w="1070919">
                  <a:extLst>
                    <a:ext uri="{9D8B030D-6E8A-4147-A177-3AD203B41FA5}">
                      <a16:colId xmlns:a16="http://schemas.microsoft.com/office/drawing/2014/main" val="3405348862"/>
                    </a:ext>
                  </a:extLst>
                </a:gridCol>
                <a:gridCol w="1367481">
                  <a:extLst>
                    <a:ext uri="{9D8B030D-6E8A-4147-A177-3AD203B41FA5}">
                      <a16:colId xmlns:a16="http://schemas.microsoft.com/office/drawing/2014/main" val="177285924"/>
                    </a:ext>
                  </a:extLst>
                </a:gridCol>
                <a:gridCol w="5490676">
                  <a:extLst>
                    <a:ext uri="{9D8B030D-6E8A-4147-A177-3AD203B41FA5}">
                      <a16:colId xmlns:a16="http://schemas.microsoft.com/office/drawing/2014/main" val="60970714"/>
                    </a:ext>
                  </a:extLst>
                </a:gridCol>
              </a:tblGrid>
              <a:tr h="573723">
                <a:tc>
                  <a:txBody>
                    <a:bodyPr/>
                    <a:lstStyle/>
                    <a:p>
                      <a:pPr algn="l"/>
                      <a:r>
                        <a:rPr lang="en-US" sz="1600" i="0" dirty="0" err="1">
                          <a:latin typeface="Lato Medium" panose="020F0502020204030203" pitchFamily="34" charset="0"/>
                          <a:ea typeface="Lato Medium" panose="020F0502020204030203" pitchFamily="34" charset="0"/>
                          <a:cs typeface="Lato Medium" panose="020F0502020204030203" pitchFamily="34" charset="0"/>
                        </a:rPr>
                        <a:t>Sl</a:t>
                      </a:r>
                      <a:r>
                        <a:rPr lang="en-US" sz="1600" i="0" dirty="0">
                          <a:latin typeface="Lato Medium" panose="020F0502020204030203" pitchFamily="34" charset="0"/>
                          <a:ea typeface="Lato Medium" panose="020F0502020204030203" pitchFamily="34" charset="0"/>
                          <a:cs typeface="Lato Medium" panose="020F0502020204030203" pitchFamily="34" charset="0"/>
                        </a:rPr>
                        <a:t> No.</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Title</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Authors</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Published (at/year)</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Dataset</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Findings</a:t>
                      </a:r>
                    </a:p>
                  </a:txBody>
                  <a:tcPr/>
                </a:tc>
                <a:extLst>
                  <a:ext uri="{0D108BD9-81ED-4DB2-BD59-A6C34878D82A}">
                    <a16:rowId xmlns:a16="http://schemas.microsoft.com/office/drawing/2014/main" val="3649264189"/>
                  </a:ext>
                </a:extLst>
              </a:tr>
              <a:tr h="2051926">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03</a:t>
                      </a:r>
                    </a:p>
                  </a:txBody>
                  <a:tcPr/>
                </a:tc>
                <a:tc>
                  <a:txBody>
                    <a:bodyPr/>
                    <a:lstStyle/>
                    <a:p>
                      <a:pPr algn="l"/>
                      <a:r>
                        <a:rPr lang="en-US" sz="1600" i="0" dirty="0" err="1">
                          <a:latin typeface="Lato Medium" panose="020F0502020204030203" pitchFamily="34" charset="0"/>
                          <a:ea typeface="Lato Medium" panose="020F0502020204030203" pitchFamily="34" charset="0"/>
                          <a:cs typeface="Lato Medium" panose="020F0502020204030203" pitchFamily="34" charset="0"/>
                        </a:rPr>
                        <a:t>TruthX</a:t>
                      </a:r>
                      <a:r>
                        <a:rPr lang="en-US" sz="1600" i="0" dirty="0">
                          <a:latin typeface="Lato Medium" panose="020F0502020204030203" pitchFamily="34" charset="0"/>
                          <a:ea typeface="Lato Medium" panose="020F0502020204030203" pitchFamily="34" charset="0"/>
                          <a:cs typeface="Lato Medium" panose="020F0502020204030203" pitchFamily="34" charset="0"/>
                        </a:rPr>
                        <a:t>: Alleviating Hallucinations by Editing Large Language Models in Truthful Space</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Zhang et al.</a:t>
                      </a: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ACL, 2024</a:t>
                      </a:r>
                    </a:p>
                  </a:txBody>
                  <a:tcPr/>
                </a:tc>
                <a:tc>
                  <a:txBody>
                    <a:bodyPr/>
                    <a:lstStyle/>
                    <a:p>
                      <a:pPr algn="l"/>
                      <a:r>
                        <a:rPr lang="en-US" sz="1600" i="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600" i="0" dirty="0">
                          <a:latin typeface="Lato Medium" panose="020F0502020204030203" pitchFamily="34" charset="0"/>
                          <a:ea typeface="Lato Medium" panose="020F0502020204030203" pitchFamily="34" charset="0"/>
                          <a:cs typeface="Lato Medium" panose="020F0502020204030203" pitchFamily="34" charset="0"/>
                        </a:rPr>
                        <a:t> (primary), Natural Questions, </a:t>
                      </a:r>
                      <a:r>
                        <a:rPr lang="en-US" sz="1600" i="0" dirty="0" err="1">
                          <a:latin typeface="Lato Medium" panose="020F0502020204030203" pitchFamily="34" charset="0"/>
                          <a:ea typeface="Lato Medium" panose="020F0502020204030203" pitchFamily="34" charset="0"/>
                          <a:cs typeface="Lato Medium" panose="020F0502020204030203" pitchFamily="34" charset="0"/>
                        </a:rPr>
                        <a:t>TriviaQA</a:t>
                      </a:r>
                      <a:r>
                        <a:rPr lang="en-US" sz="1600" i="0" dirty="0">
                          <a:latin typeface="Lato Medium" panose="020F0502020204030203" pitchFamily="34" charset="0"/>
                          <a:ea typeface="Lato Medium" panose="020F0502020204030203" pitchFamily="34" charset="0"/>
                          <a:cs typeface="Lato Medium" panose="020F0502020204030203" pitchFamily="34" charset="0"/>
                        </a:rPr>
                        <a:t>, FACTOR (news, expert, wiki) </a:t>
                      </a:r>
                    </a:p>
                  </a:txBody>
                  <a:tcPr/>
                </a:tc>
                <a:tc>
                  <a:txBody>
                    <a:bodyPr/>
                    <a:lstStyle/>
                    <a:p>
                      <a:pPr algn="l"/>
                      <a:r>
                        <a:rPr lang="en-US" sz="1600" b="1" i="0" dirty="0">
                          <a:latin typeface="Lato Medium" panose="020F0502020204030203" pitchFamily="34" charset="0"/>
                          <a:ea typeface="Lato Medium" panose="020F0502020204030203" pitchFamily="34" charset="0"/>
                          <a:cs typeface="Lato Medium" panose="020F0502020204030203" pitchFamily="34" charset="0"/>
                        </a:rPr>
                        <a:t>Algorithm / Methodology: </a:t>
                      </a:r>
                      <a:r>
                        <a:rPr lang="en-US" sz="1600" b="0" i="0" dirty="0">
                          <a:latin typeface="Lato Medium" panose="020F0502020204030203" pitchFamily="34" charset="0"/>
                          <a:ea typeface="Lato Medium" panose="020F0502020204030203" pitchFamily="34" charset="0"/>
                          <a:cs typeface="Lato Medium" panose="020F0502020204030203" pitchFamily="34" charset="0"/>
                        </a:rPr>
                        <a:t>Auto-encoder</a:t>
                      </a:r>
                      <a:r>
                        <a:rPr lang="en-US" sz="1600" i="0" dirty="0">
                          <a:latin typeface="Lato Medium" panose="020F0502020204030203" pitchFamily="34" charset="0"/>
                          <a:ea typeface="Lato Medium" panose="020F0502020204030203" pitchFamily="34" charset="0"/>
                          <a:cs typeface="Lato Medium" panose="020F0502020204030203" pitchFamily="34" charset="0"/>
                        </a:rPr>
                        <a:t> separates LLM representations into truthful and semantic spaces; contrastive learning finds an editing direction in truthful space applied at inference to boost factuality without harming fluency.</a:t>
                      </a:r>
                    </a:p>
                    <a:p>
                      <a:pPr algn="l"/>
                      <a:r>
                        <a:rPr lang="en-US" sz="1600" b="1" i="0" dirty="0">
                          <a:latin typeface="Lato Medium" panose="020F0502020204030203" pitchFamily="34" charset="0"/>
                          <a:ea typeface="Lato Medium" panose="020F0502020204030203" pitchFamily="34" charset="0"/>
                          <a:cs typeface="Lato Medium" panose="020F0502020204030203" pitchFamily="34" charset="0"/>
                        </a:rPr>
                        <a:t>Performance: </a:t>
                      </a:r>
                      <a:r>
                        <a:rPr lang="en-US" sz="1600" dirty="0">
                          <a:latin typeface="Lato Medium" panose="020F0502020204030203" pitchFamily="34" charset="0"/>
                          <a:ea typeface="Lato Medium" panose="020F0502020204030203" pitchFamily="34" charset="0"/>
                          <a:cs typeface="Lato Medium" panose="020F0502020204030203" pitchFamily="34" charset="0"/>
                        </a:rPr>
                        <a:t>MC1: 54.22%, MC2: 73.90%, MC3: 44.37%</a:t>
                      </a:r>
                      <a:br>
                        <a:rPr lang="en-US" sz="1600" i="0" dirty="0">
                          <a:latin typeface="Lato Medium" panose="020F0502020204030203" pitchFamily="34" charset="0"/>
                          <a:ea typeface="Lato Medium" panose="020F0502020204030203" pitchFamily="34" charset="0"/>
                          <a:cs typeface="Lato Medium" panose="020F0502020204030203" pitchFamily="34" charset="0"/>
                        </a:rPr>
                      </a:br>
                      <a:r>
                        <a:rPr lang="en-US" sz="1600" b="1" i="0" dirty="0">
                          <a:latin typeface="Lato Medium" panose="020F0502020204030203" pitchFamily="34" charset="0"/>
                          <a:ea typeface="Lato Medium" panose="020F0502020204030203" pitchFamily="34" charset="0"/>
                          <a:cs typeface="Lato Medium" panose="020F0502020204030203" pitchFamily="34" charset="0"/>
                        </a:rPr>
                        <a:t>Study Gap:</a:t>
                      </a:r>
                      <a:r>
                        <a:rPr lang="en-US" sz="1600" i="0" dirty="0">
                          <a:latin typeface="Lato Medium" panose="020F0502020204030203" pitchFamily="34" charset="0"/>
                          <a:ea typeface="Lato Medium" panose="020F0502020204030203" pitchFamily="34" charset="0"/>
                          <a:cs typeface="Lato Medium" panose="020F0502020204030203" pitchFamily="34" charset="0"/>
                        </a:rPr>
                        <a:t> </a:t>
                      </a:r>
                      <a:r>
                        <a:rPr lang="en-US" sz="1600" i="0" dirty="0" err="1">
                          <a:latin typeface="Lato Medium" panose="020F0502020204030203" pitchFamily="34" charset="0"/>
                          <a:ea typeface="Lato Medium" panose="020F0502020204030203" pitchFamily="34" charset="0"/>
                          <a:cs typeface="Lato Medium" panose="020F0502020204030203" pitchFamily="34" charset="0"/>
                        </a:rPr>
                        <a:t>TruthX</a:t>
                      </a:r>
                      <a:r>
                        <a:rPr lang="en-US" sz="1600" i="0" dirty="0">
                          <a:latin typeface="Lato Medium" panose="020F0502020204030203" pitchFamily="34" charset="0"/>
                          <a:ea typeface="Lato Medium" panose="020F0502020204030203" pitchFamily="34" charset="0"/>
                          <a:cs typeface="Lato Medium" panose="020F0502020204030203" pitchFamily="34" charset="0"/>
                        </a:rPr>
                        <a:t> elicits existing truthfulness but cannot inject new knowledge requiring external sources for facts beyond the model's training scope.</a:t>
                      </a:r>
                    </a:p>
                  </a:txBody>
                  <a:tcPr/>
                </a:tc>
                <a:extLst>
                  <a:ext uri="{0D108BD9-81ED-4DB2-BD59-A6C34878D82A}">
                    <a16:rowId xmlns:a16="http://schemas.microsoft.com/office/drawing/2014/main" val="915579475"/>
                  </a:ext>
                </a:extLst>
              </a:tr>
              <a:tr h="367384">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04</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Alleviating Hallucinations of Large Language Models through Induced Hallucinations</a:t>
                      </a:r>
                    </a:p>
                  </a:txBody>
                  <a:tcPr/>
                </a:tc>
                <a:tc>
                  <a:txBody>
                    <a:bodyPr/>
                    <a:lstStyle/>
                    <a:p>
                      <a:pPr algn="l"/>
                      <a:r>
                        <a:rPr lang="en-US" sz="1600" dirty="0">
                          <a:latin typeface="Lato Medium" panose="020F0502020204030203" pitchFamily="34" charset="0"/>
                          <a:ea typeface="Lato Medium" panose="020F0502020204030203" pitchFamily="34" charset="0"/>
                          <a:cs typeface="Lato Medium" panose="020F0502020204030203" pitchFamily="34" charset="0"/>
                        </a:rPr>
                        <a:t>Zhang et al.</a:t>
                      </a:r>
                      <a:endParaRPr lang="en-US" sz="1600" i="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algn="l"/>
                      <a:r>
                        <a:rPr lang="en-US" sz="1600" i="0" dirty="0">
                          <a:latin typeface="Lato Medium" panose="020F0502020204030203" pitchFamily="34" charset="0"/>
                          <a:ea typeface="Lato Medium" panose="020F0502020204030203" pitchFamily="34" charset="0"/>
                          <a:cs typeface="Lato Medium" panose="020F0502020204030203" pitchFamily="34" charset="0"/>
                        </a:rPr>
                        <a:t>ACL, 2025</a:t>
                      </a:r>
                    </a:p>
                  </a:txBody>
                  <a:tcPr/>
                </a:tc>
                <a:tc>
                  <a:txBody>
                    <a:bodyPr/>
                    <a:lstStyle/>
                    <a:p>
                      <a:pPr algn="l"/>
                      <a:r>
                        <a:rPr lang="en-US" sz="16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600" dirty="0">
                          <a:latin typeface="Lato Medium" panose="020F0502020204030203" pitchFamily="34" charset="0"/>
                          <a:ea typeface="Lato Medium" panose="020F0502020204030203" pitchFamily="34" charset="0"/>
                          <a:cs typeface="Lato Medium" panose="020F0502020204030203" pitchFamily="34" charset="0"/>
                        </a:rPr>
                        <a:t> (primary), </a:t>
                      </a:r>
                      <a:r>
                        <a:rPr lang="en-US" sz="1600" dirty="0" err="1">
                          <a:latin typeface="Lato Medium" panose="020F0502020204030203" pitchFamily="34" charset="0"/>
                          <a:ea typeface="Lato Medium" panose="020F0502020204030203" pitchFamily="34" charset="0"/>
                          <a:cs typeface="Lato Medium" panose="020F0502020204030203" pitchFamily="34" charset="0"/>
                        </a:rPr>
                        <a:t>FActScore</a:t>
                      </a:r>
                      <a:r>
                        <a:rPr lang="en-US" sz="1600" dirty="0">
                          <a:latin typeface="Lato Medium" panose="020F0502020204030203" pitchFamily="34" charset="0"/>
                          <a:ea typeface="Lato Medium" panose="020F0502020204030203" pitchFamily="34" charset="0"/>
                          <a:cs typeface="Lato Medium" panose="020F0502020204030203" pitchFamily="34" charset="0"/>
                        </a:rPr>
                        <a:t>, </a:t>
                      </a:r>
                      <a:r>
                        <a:rPr lang="en-US" sz="1600" dirty="0" err="1">
                          <a:latin typeface="Lato Medium" panose="020F0502020204030203" pitchFamily="34" charset="0"/>
                          <a:ea typeface="Lato Medium" panose="020F0502020204030203" pitchFamily="34" charset="0"/>
                          <a:cs typeface="Lato Medium" panose="020F0502020204030203" pitchFamily="34" charset="0"/>
                        </a:rPr>
                        <a:t>HaluEval</a:t>
                      </a:r>
                      <a:endParaRPr lang="en-US" sz="1600" i="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algn="l"/>
                      <a:r>
                        <a:rPr lang="en-US" sz="1600" b="1" i="0" dirty="0">
                          <a:latin typeface="Lato Medium" panose="020F0502020204030203" pitchFamily="34" charset="0"/>
                          <a:ea typeface="Lato Medium" panose="020F0502020204030203" pitchFamily="34" charset="0"/>
                          <a:cs typeface="Lato Medium" panose="020F0502020204030203" pitchFamily="34" charset="0"/>
                        </a:rPr>
                        <a:t>Algorithm / Methodology: </a:t>
                      </a:r>
                      <a:r>
                        <a:rPr lang="en-US" sz="1600" b="0" i="0" dirty="0">
                          <a:latin typeface="Lato Medium" panose="020F0502020204030203" pitchFamily="34" charset="0"/>
                          <a:ea typeface="Lato Medium" panose="020F0502020204030203" pitchFamily="34" charset="0"/>
                          <a:cs typeface="Lato Medium" panose="020F0502020204030203" pitchFamily="34" charset="0"/>
                        </a:rPr>
                        <a:t>Full</a:t>
                      </a:r>
                      <a:r>
                        <a:rPr lang="en-US" sz="1600" i="0" dirty="0">
                          <a:latin typeface="Lato Medium" panose="020F0502020204030203" pitchFamily="34" charset="0"/>
                          <a:ea typeface="Lato Medium" panose="020F0502020204030203" pitchFamily="34" charset="0"/>
                          <a:cs typeface="Lato Medium" panose="020F0502020204030203" pitchFamily="34" charset="0"/>
                        </a:rPr>
                        <a:t> f</a:t>
                      </a:r>
                      <a:r>
                        <a:rPr lang="en-US" sz="1600" dirty="0">
                          <a:latin typeface="Lato Medium" panose="020F0502020204030203" pitchFamily="34" charset="0"/>
                          <a:ea typeface="Lato Medium" panose="020F0502020204030203" pitchFamily="34" charset="0"/>
                          <a:cs typeface="Lato Medium" panose="020F0502020204030203" pitchFamily="34" charset="0"/>
                        </a:rPr>
                        <a:t>ine tunes an LLM on non-factual samples to create a factually weak full-sized amateur model, then used contrastive decoding to subtracts the amateur's log probabilities from the expert's to amplify truthful predictions.</a:t>
                      </a:r>
                      <a:endParaRPr lang="en-US" sz="1600" i="0" dirty="0">
                        <a:latin typeface="Lato Medium" panose="020F0502020204030203" pitchFamily="34" charset="0"/>
                        <a:ea typeface="Lato Medium" panose="020F0502020204030203" pitchFamily="34" charset="0"/>
                        <a:cs typeface="Lato Medium" panose="020F0502020204030203" pitchFamily="34" charset="0"/>
                      </a:endParaRPr>
                    </a:p>
                    <a:p>
                      <a:pPr algn="l"/>
                      <a:r>
                        <a:rPr lang="en-US" sz="1600" b="1" i="0" dirty="0">
                          <a:latin typeface="Lato Medium" panose="020F0502020204030203" pitchFamily="34" charset="0"/>
                          <a:ea typeface="Lato Medium" panose="020F0502020204030203" pitchFamily="34" charset="0"/>
                          <a:cs typeface="Lato Medium" panose="020F0502020204030203" pitchFamily="34" charset="0"/>
                        </a:rPr>
                        <a:t>Performance:</a:t>
                      </a:r>
                      <a:r>
                        <a:rPr lang="en-US" sz="1600" i="0" dirty="0">
                          <a:latin typeface="Lato Medium" panose="020F0502020204030203" pitchFamily="34" charset="0"/>
                          <a:ea typeface="Lato Medium" panose="020F0502020204030203" pitchFamily="34" charset="0"/>
                          <a:cs typeface="Lato Medium" panose="020F0502020204030203" pitchFamily="34" charset="0"/>
                        </a:rPr>
                        <a:t> </a:t>
                      </a:r>
                      <a:r>
                        <a:rPr lang="en-US" sz="1600" dirty="0">
                          <a:latin typeface="Lato Medium" panose="020F0502020204030203" pitchFamily="34" charset="0"/>
                          <a:ea typeface="Lato Medium" panose="020F0502020204030203" pitchFamily="34" charset="0"/>
                          <a:cs typeface="Lato Medium" panose="020F0502020204030203" pitchFamily="34" charset="0"/>
                        </a:rPr>
                        <a:t>MC1: 46.32%, MC2: 69.08%, MC3: 41.25%</a:t>
                      </a:r>
                      <a:br>
                        <a:rPr lang="en-US" sz="1600" i="0" dirty="0">
                          <a:latin typeface="Lato Medium" panose="020F0502020204030203" pitchFamily="34" charset="0"/>
                          <a:ea typeface="Lato Medium" panose="020F0502020204030203" pitchFamily="34" charset="0"/>
                          <a:cs typeface="Lato Medium" panose="020F0502020204030203" pitchFamily="34" charset="0"/>
                        </a:rPr>
                      </a:br>
                      <a:r>
                        <a:rPr lang="en-US" sz="1600" b="1" i="0" dirty="0">
                          <a:latin typeface="Lato Medium" panose="020F0502020204030203" pitchFamily="34" charset="0"/>
                          <a:ea typeface="Lato Medium" panose="020F0502020204030203" pitchFamily="34" charset="0"/>
                          <a:cs typeface="Lato Medium" panose="020F0502020204030203" pitchFamily="34" charset="0"/>
                        </a:rPr>
                        <a:t>Study Gap: </a:t>
                      </a:r>
                      <a:r>
                        <a:rPr lang="en-US" sz="1600" dirty="0">
                          <a:latin typeface="Lato Medium" panose="020F0502020204030203" pitchFamily="34" charset="0"/>
                          <a:ea typeface="Lato Medium" panose="020F0502020204030203" pitchFamily="34" charset="0"/>
                          <a:cs typeface="Lato Medium" panose="020F0502020204030203" pitchFamily="34" charset="0"/>
                        </a:rPr>
                        <a:t>Requires two full forward passes at inference time causing 1.6x latency overhead, and the amateur is a fully fine-tuned LLM which introduces unnecessary storage and compute costs </a:t>
                      </a:r>
                      <a:endParaRPr lang="en-US" sz="1600" i="0" dirty="0">
                        <a:latin typeface="Lato Medium" panose="020F0502020204030203" pitchFamily="34" charset="0"/>
                        <a:ea typeface="Lato Medium" panose="020F0502020204030203" pitchFamily="34" charset="0"/>
                        <a:cs typeface="Lato Medium" panose="020F0502020204030203" pitchFamily="34" charset="0"/>
                      </a:endParaRPr>
                    </a:p>
                  </a:txBody>
                  <a:tcPr/>
                </a:tc>
                <a:extLst>
                  <a:ext uri="{0D108BD9-81ED-4DB2-BD59-A6C34878D82A}">
                    <a16:rowId xmlns:a16="http://schemas.microsoft.com/office/drawing/2014/main" val="3304515308"/>
                  </a:ext>
                </a:extLst>
              </a:tr>
            </a:tbl>
          </a:graphicData>
        </a:graphic>
      </p:graphicFrame>
      <p:sp>
        <p:nvSpPr>
          <p:cNvPr id="5" name="Title 4">
            <a:extLst>
              <a:ext uri="{FF2B5EF4-FFF2-40B4-BE49-F238E27FC236}">
                <a16:creationId xmlns:a16="http://schemas.microsoft.com/office/drawing/2014/main" id="{DD146C1E-C2AC-4789-BEFA-624CB690BE0D}"/>
              </a:ext>
            </a:extLst>
          </p:cNvPr>
          <p:cNvSpPr>
            <a:spLocks noGrp="1"/>
          </p:cNvSpPr>
          <p:nvPr>
            <p:ph type="ctrTitle"/>
          </p:nvPr>
        </p:nvSpPr>
        <p:spPr>
          <a:xfrm flipV="1">
            <a:off x="1524000" y="560173"/>
            <a:ext cx="9144000" cy="562190"/>
          </a:xfrm>
        </p:spPr>
        <p:txBody>
          <a:bodyPr>
            <a:normAutofit fontScale="90000"/>
          </a:bodyPr>
          <a:lstStyle/>
          <a:p>
            <a:r>
              <a:rPr lang="en-US" dirty="0"/>
              <a:t> </a:t>
            </a:r>
          </a:p>
        </p:txBody>
      </p:sp>
      <p:sp>
        <p:nvSpPr>
          <p:cNvPr id="2" name="Rectangle 1">
            <a:extLst>
              <a:ext uri="{FF2B5EF4-FFF2-40B4-BE49-F238E27FC236}">
                <a16:creationId xmlns:a16="http://schemas.microsoft.com/office/drawing/2014/main" id="{BC07F6AC-B584-D96E-2D8F-1611B1F3E2B7}"/>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06</a:t>
            </a:r>
          </a:p>
        </p:txBody>
      </p:sp>
      <p:sp>
        <p:nvSpPr>
          <p:cNvPr id="3" name="Title 1">
            <a:extLst>
              <a:ext uri="{FF2B5EF4-FFF2-40B4-BE49-F238E27FC236}">
                <a16:creationId xmlns:a16="http://schemas.microsoft.com/office/drawing/2014/main" id="{7C794C97-2BE3-D3D9-88CF-6CC16A05C91E}"/>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Related Work (Cont.)</a:t>
            </a:r>
          </a:p>
        </p:txBody>
      </p:sp>
    </p:spTree>
    <p:extLst>
      <p:ext uri="{BB962C8B-B14F-4D97-AF65-F5344CB8AC3E}">
        <p14:creationId xmlns:p14="http://schemas.microsoft.com/office/powerpoint/2010/main" val="129847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48D596-4A72-4F8E-8DA3-ABC102D221B6}"/>
              </a:ext>
            </a:extLst>
          </p:cNvPr>
          <p:cNvGraphicFramePr>
            <a:graphicFrameLocks noGrp="1"/>
          </p:cNvGraphicFramePr>
          <p:nvPr>
            <p:extLst>
              <p:ext uri="{D42A27DB-BD31-4B8C-83A1-F6EECF244321}">
                <p14:modId xmlns:p14="http://schemas.microsoft.com/office/powerpoint/2010/main" val="490095502"/>
              </p:ext>
            </p:extLst>
          </p:nvPr>
        </p:nvGraphicFramePr>
        <p:xfrm>
          <a:off x="683115" y="1386840"/>
          <a:ext cx="10825770" cy="4084320"/>
        </p:xfrm>
        <a:graphic>
          <a:graphicData uri="http://schemas.openxmlformats.org/drawingml/2006/table">
            <a:tbl>
              <a:tblPr firstRow="1" bandRow="1">
                <a:tableStyleId>{0505E3EF-67EA-436B-97B2-0124C06EBD24}</a:tableStyleId>
              </a:tblPr>
              <a:tblGrid>
                <a:gridCol w="691866">
                  <a:extLst>
                    <a:ext uri="{9D8B030D-6E8A-4147-A177-3AD203B41FA5}">
                      <a16:colId xmlns:a16="http://schemas.microsoft.com/office/drawing/2014/main" val="2594877742"/>
                    </a:ext>
                  </a:extLst>
                </a:gridCol>
                <a:gridCol w="2134338">
                  <a:extLst>
                    <a:ext uri="{9D8B030D-6E8A-4147-A177-3AD203B41FA5}">
                      <a16:colId xmlns:a16="http://schemas.microsoft.com/office/drawing/2014/main" val="704370945"/>
                    </a:ext>
                  </a:extLst>
                </a:gridCol>
                <a:gridCol w="1272001">
                  <a:extLst>
                    <a:ext uri="{9D8B030D-6E8A-4147-A177-3AD203B41FA5}">
                      <a16:colId xmlns:a16="http://schemas.microsoft.com/office/drawing/2014/main" val="3210173272"/>
                    </a:ext>
                  </a:extLst>
                </a:gridCol>
                <a:gridCol w="1240539">
                  <a:extLst>
                    <a:ext uri="{9D8B030D-6E8A-4147-A177-3AD203B41FA5}">
                      <a16:colId xmlns:a16="http://schemas.microsoft.com/office/drawing/2014/main" val="3405348862"/>
                    </a:ext>
                  </a:extLst>
                </a:gridCol>
                <a:gridCol w="1598141">
                  <a:extLst>
                    <a:ext uri="{9D8B030D-6E8A-4147-A177-3AD203B41FA5}">
                      <a16:colId xmlns:a16="http://schemas.microsoft.com/office/drawing/2014/main" val="177285924"/>
                    </a:ext>
                  </a:extLst>
                </a:gridCol>
                <a:gridCol w="3888885">
                  <a:extLst>
                    <a:ext uri="{9D8B030D-6E8A-4147-A177-3AD203B41FA5}">
                      <a16:colId xmlns:a16="http://schemas.microsoft.com/office/drawing/2014/main" val="60970714"/>
                    </a:ext>
                  </a:extLst>
                </a:gridCol>
              </a:tblGrid>
              <a:tr h="573723">
                <a:tc>
                  <a:txBody>
                    <a:bodyPr/>
                    <a:lstStyle/>
                    <a:p>
                      <a:r>
                        <a:rPr lang="en-US" sz="1600" dirty="0" err="1">
                          <a:latin typeface="Lato Medium" panose="020F0502020204030203" pitchFamily="34" charset="0"/>
                          <a:ea typeface="Lato Medium" panose="020F0502020204030203" pitchFamily="34" charset="0"/>
                          <a:cs typeface="Lato Medium" panose="020F0502020204030203" pitchFamily="34" charset="0"/>
                        </a:rPr>
                        <a:t>Sl</a:t>
                      </a:r>
                      <a:r>
                        <a:rPr lang="en-US" sz="1600" dirty="0">
                          <a:latin typeface="Lato Medium" panose="020F0502020204030203" pitchFamily="34" charset="0"/>
                          <a:ea typeface="Lato Medium" panose="020F0502020204030203" pitchFamily="34" charset="0"/>
                          <a:cs typeface="Lato Medium" panose="020F0502020204030203" pitchFamily="34" charset="0"/>
                        </a:rPr>
                        <a:t> No.</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Title</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Authors</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Published (at/year)</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Dataset</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Findings</a:t>
                      </a:r>
                    </a:p>
                  </a:txBody>
                  <a:tcPr/>
                </a:tc>
                <a:extLst>
                  <a:ext uri="{0D108BD9-81ED-4DB2-BD59-A6C34878D82A}">
                    <a16:rowId xmlns:a16="http://schemas.microsoft.com/office/drawing/2014/main" val="3649264189"/>
                  </a:ext>
                </a:extLst>
              </a:tr>
              <a:tr h="2051926">
                <a:tc>
                  <a:txBody>
                    <a:bodyPr/>
                    <a:lstStyle/>
                    <a:p>
                      <a:r>
                        <a:rPr lang="en-US" sz="1600" b="0" dirty="0">
                          <a:latin typeface="Lato Medium" panose="020F0502020204030203" pitchFamily="34" charset="0"/>
                          <a:ea typeface="Lato Medium" panose="020F0502020204030203" pitchFamily="34" charset="0"/>
                          <a:cs typeface="Lato Medium" panose="020F0502020204030203" pitchFamily="34" charset="0"/>
                        </a:rPr>
                        <a:t>05</a:t>
                      </a: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Alleviating Hallucinations in Large Language Models via Truthfulness-driven Rank-adaptive </a:t>
                      </a:r>
                      <a:r>
                        <a:rPr lang="en-US" sz="1600" dirty="0" err="1">
                          <a:latin typeface="Lato Medium" panose="020F0502020204030203" pitchFamily="34" charset="0"/>
                          <a:ea typeface="Lato Medium" panose="020F0502020204030203" pitchFamily="34" charset="0"/>
                          <a:cs typeface="Lato Medium" panose="020F0502020204030203" pitchFamily="34" charset="0"/>
                        </a:rPr>
                        <a:t>LoRA</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Li et al., 2025</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r>
                        <a:rPr lang="en-US" sz="1600" b="0" dirty="0">
                          <a:latin typeface="Lato Medium" panose="020F0502020204030203" pitchFamily="34" charset="0"/>
                          <a:ea typeface="Lato Medium" panose="020F0502020204030203" pitchFamily="34" charset="0"/>
                          <a:cs typeface="Lato Medium" panose="020F0502020204030203" pitchFamily="34" charset="0"/>
                        </a:rPr>
                        <a:t>ACL 2025</a:t>
                      </a:r>
                    </a:p>
                  </a:txBody>
                  <a:tcPr/>
                </a:tc>
                <a:tc>
                  <a:txBody>
                    <a:bodyPr/>
                    <a:lstStyle/>
                    <a:p>
                      <a:r>
                        <a:rPr lang="en-US" sz="16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600" dirty="0">
                          <a:latin typeface="Lato Medium" panose="020F0502020204030203" pitchFamily="34" charset="0"/>
                          <a:ea typeface="Lato Medium" panose="020F0502020204030203" pitchFamily="34" charset="0"/>
                          <a:cs typeface="Lato Medium" panose="020F0502020204030203" pitchFamily="34" charset="0"/>
                        </a:rPr>
                        <a:t> (primary), ARC Challenge, </a:t>
                      </a:r>
                      <a:r>
                        <a:rPr lang="en-US" sz="1600" dirty="0" err="1">
                          <a:latin typeface="Lato Medium" panose="020F0502020204030203" pitchFamily="34" charset="0"/>
                          <a:ea typeface="Lato Medium" panose="020F0502020204030203" pitchFamily="34" charset="0"/>
                          <a:cs typeface="Lato Medium" panose="020F0502020204030203" pitchFamily="34" charset="0"/>
                        </a:rPr>
                        <a:t>HellaSwag</a:t>
                      </a:r>
                      <a:r>
                        <a:rPr lang="en-US" sz="1600" dirty="0">
                          <a:latin typeface="Lato Medium" panose="020F0502020204030203" pitchFamily="34" charset="0"/>
                          <a:ea typeface="Lato Medium" panose="020F0502020204030203" pitchFamily="34" charset="0"/>
                          <a:cs typeface="Lato Medium" panose="020F0502020204030203" pitchFamily="34" charset="0"/>
                        </a:rPr>
                        <a:t>, MMLU</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Algorithm / Methodology: </a:t>
                      </a:r>
                      <a:r>
                        <a:rPr lang="en-US" sz="1600" dirty="0">
                          <a:latin typeface="Lato Medium" panose="020F0502020204030203" pitchFamily="34" charset="0"/>
                          <a:ea typeface="Lato Medium" panose="020F0502020204030203" pitchFamily="34" charset="0"/>
                          <a:cs typeface="Lato Medium" panose="020F0502020204030203" pitchFamily="34" charset="0"/>
                        </a:rPr>
                        <a:t>Probing-based truthfulness correlation measurement across all MHA and FFN modules, followed by rank-adaptive </a:t>
                      </a:r>
                      <a:r>
                        <a:rPr lang="en-US" sz="1600" dirty="0" err="1">
                          <a:latin typeface="Lato Medium" panose="020F0502020204030203" pitchFamily="34" charset="0"/>
                          <a:ea typeface="Lato Medium" panose="020F0502020204030203" pitchFamily="34" charset="0"/>
                          <a:cs typeface="Lato Medium" panose="020F0502020204030203" pitchFamily="34" charset="0"/>
                        </a:rPr>
                        <a:t>LoRA</a:t>
                      </a:r>
                      <a:r>
                        <a:rPr lang="en-US" sz="1600" dirty="0">
                          <a:latin typeface="Lato Medium" panose="020F0502020204030203" pitchFamily="34" charset="0"/>
                          <a:ea typeface="Lato Medium" panose="020F0502020204030203" pitchFamily="34" charset="0"/>
                          <a:cs typeface="Lato Medium" panose="020F0502020204030203" pitchFamily="34" charset="0"/>
                        </a:rPr>
                        <a:t> training using DPO on paired truthful/untruthful responses</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Performance:</a:t>
                      </a:r>
                      <a:r>
                        <a:rPr lang="en-US" sz="1600" b="0" dirty="0">
                          <a:latin typeface="Lato Medium" panose="020F0502020204030203" pitchFamily="34" charset="0"/>
                          <a:ea typeface="Lato Medium" panose="020F0502020204030203" pitchFamily="34" charset="0"/>
                          <a:cs typeface="Lato Medium" panose="020F0502020204030203" pitchFamily="34" charset="0"/>
                        </a:rPr>
                        <a:t> </a:t>
                      </a:r>
                      <a:r>
                        <a:rPr lang="en-US" sz="1600" dirty="0">
                          <a:latin typeface="Lato Medium" panose="020F0502020204030203" pitchFamily="34" charset="0"/>
                          <a:ea typeface="Lato Medium" panose="020F0502020204030203" pitchFamily="34" charset="0"/>
                          <a:cs typeface="Lato Medium" panose="020F0502020204030203" pitchFamily="34" charset="0"/>
                        </a:rPr>
                        <a:t>MC1: 60.22%, MC2: 77.76%, MC3: 68.99%</a:t>
                      </a:r>
                      <a:endParaRPr lang="en-US" sz="1600" b="1" dirty="0">
                        <a:latin typeface="Lato Medium" panose="020F0502020204030203" pitchFamily="34" charset="0"/>
                        <a:ea typeface="Lato Medium" panose="020F0502020204030203" pitchFamily="34" charset="0"/>
                        <a:cs typeface="Lato Medium"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Lato Medium" panose="020F0502020204030203" pitchFamily="34" charset="0"/>
                          <a:ea typeface="Lato Medium" panose="020F0502020204030203" pitchFamily="34" charset="0"/>
                          <a:cs typeface="Lato Medium" panose="020F0502020204030203" pitchFamily="34" charset="0"/>
                        </a:rPr>
                        <a:t>Study Gap: </a:t>
                      </a:r>
                      <a:r>
                        <a:rPr lang="en-US" sz="1600" b="0" dirty="0">
                          <a:latin typeface="Lato Medium" panose="020F0502020204030203" pitchFamily="34" charset="0"/>
                          <a:ea typeface="Lato Medium" panose="020F0502020204030203" pitchFamily="34" charset="0"/>
                          <a:cs typeface="Lato Medium" panose="020F0502020204030203" pitchFamily="34" charset="0"/>
                        </a:rPr>
                        <a:t>O</a:t>
                      </a:r>
                      <a:r>
                        <a:rPr lang="en-US" sz="1600" dirty="0">
                          <a:latin typeface="Lato Medium" panose="020F0502020204030203" pitchFamily="34" charset="0"/>
                          <a:ea typeface="Lato Medium" panose="020F0502020204030203" pitchFamily="34" charset="0"/>
                          <a:cs typeface="Lato Medium" panose="020F0502020204030203" pitchFamily="34" charset="0"/>
                        </a:rPr>
                        <a:t>nly decomposes the LLM into MHA and FFN modules and does not further explore truthfulness correlations within sub-modules of MHA and FFN, leaving finer-grained rank allocation as an open direction.</a:t>
                      </a:r>
                      <a:endParaRPr lang="en-US" sz="1600" b="0" dirty="0">
                        <a:latin typeface="Lato Medium" panose="020F0502020204030203" pitchFamily="34" charset="0"/>
                        <a:ea typeface="Lato Medium" panose="020F0502020204030203" pitchFamily="34" charset="0"/>
                        <a:cs typeface="Lato Medium" panose="020F0502020204030203" pitchFamily="34" charset="0"/>
                      </a:endParaRPr>
                    </a:p>
                  </a:txBody>
                  <a:tcPr/>
                </a:tc>
                <a:extLst>
                  <a:ext uri="{0D108BD9-81ED-4DB2-BD59-A6C34878D82A}">
                    <a16:rowId xmlns:a16="http://schemas.microsoft.com/office/drawing/2014/main" val="915579475"/>
                  </a:ext>
                </a:extLst>
              </a:tr>
            </a:tbl>
          </a:graphicData>
        </a:graphic>
      </p:graphicFrame>
      <p:sp>
        <p:nvSpPr>
          <p:cNvPr id="2" name="Rectangle 1">
            <a:extLst>
              <a:ext uri="{FF2B5EF4-FFF2-40B4-BE49-F238E27FC236}">
                <a16:creationId xmlns:a16="http://schemas.microsoft.com/office/drawing/2014/main" id="{BC68FE47-D05A-2F15-745E-9AFBFB00D1E2}"/>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07</a:t>
            </a:r>
          </a:p>
        </p:txBody>
      </p:sp>
      <p:sp>
        <p:nvSpPr>
          <p:cNvPr id="3" name="TextBox 2">
            <a:extLst>
              <a:ext uri="{FF2B5EF4-FFF2-40B4-BE49-F238E27FC236}">
                <a16:creationId xmlns:a16="http://schemas.microsoft.com/office/drawing/2014/main" id="{93C26FD1-F55C-FD9D-14AC-0DC75A740E21}"/>
              </a:ext>
            </a:extLst>
          </p:cNvPr>
          <p:cNvSpPr txBox="1"/>
          <p:nvPr/>
        </p:nvSpPr>
        <p:spPr>
          <a:xfrm>
            <a:off x="3029465" y="6145883"/>
            <a:ext cx="6133069"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Note: </a:t>
            </a:r>
            <a:r>
              <a:rPr lang="en-US" sz="1000" dirty="0">
                <a:latin typeface="Lato Medium" panose="020F0502020204030203" pitchFamily="34" charset="0"/>
                <a:ea typeface="Lato Medium" panose="020F0502020204030203" pitchFamily="34" charset="0"/>
                <a:cs typeface="Lato Medium" panose="020F0502020204030203" pitchFamily="34" charset="0"/>
              </a:rPr>
              <a:t>All performance scores above are evaluated on the </a:t>
            </a:r>
            <a:r>
              <a:rPr lang="en-US" sz="10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000" dirty="0">
                <a:latin typeface="Lato Medium" panose="020F0502020204030203" pitchFamily="34" charset="0"/>
                <a:ea typeface="Lato Medium" panose="020F0502020204030203" pitchFamily="34" charset="0"/>
                <a:cs typeface="Lato Medium" panose="020F0502020204030203" pitchFamily="34" charset="0"/>
              </a:rPr>
              <a:t> benchmark using Llama 2-7B-Chat.</a:t>
            </a:r>
          </a:p>
        </p:txBody>
      </p:sp>
      <p:sp>
        <p:nvSpPr>
          <p:cNvPr id="8" name="Title 1">
            <a:extLst>
              <a:ext uri="{FF2B5EF4-FFF2-40B4-BE49-F238E27FC236}">
                <a16:creationId xmlns:a16="http://schemas.microsoft.com/office/drawing/2014/main" id="{6FCEAA89-C0F7-549E-3570-A80C6B593F17}"/>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Related Work (Cont.)</a:t>
            </a:r>
          </a:p>
        </p:txBody>
      </p:sp>
    </p:spTree>
    <p:extLst>
      <p:ext uri="{BB962C8B-B14F-4D97-AF65-F5344CB8AC3E}">
        <p14:creationId xmlns:p14="http://schemas.microsoft.com/office/powerpoint/2010/main" val="743948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Required Tools</a:t>
            </a:r>
          </a:p>
        </p:txBody>
      </p:sp>
      <p:sp>
        <p:nvSpPr>
          <p:cNvPr id="5" name="Rectangle 2">
            <a:extLst>
              <a:ext uri="{FF2B5EF4-FFF2-40B4-BE49-F238E27FC236}">
                <a16:creationId xmlns:a16="http://schemas.microsoft.com/office/drawing/2014/main" id="{95B7D8DB-B075-4A60-8A50-FB798A41E0C6}"/>
              </a:ext>
            </a:extLst>
          </p:cNvPr>
          <p:cNvSpPr>
            <a:spLocks noGrp="1" noChangeArrowheads="1"/>
          </p:cNvSpPr>
          <p:nvPr>
            <p:ph type="subTitle" idx="1"/>
          </p:nvPr>
        </p:nvSpPr>
        <p:spPr bwMode="auto">
          <a:xfrm>
            <a:off x="1524000" y="972066"/>
            <a:ext cx="9144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tabLst/>
            </a:pP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a:t>
            </a:r>
          </a:p>
        </p:txBody>
      </p:sp>
      <p:graphicFrame>
        <p:nvGraphicFramePr>
          <p:cNvPr id="8" name="Table 7">
            <a:extLst>
              <a:ext uri="{FF2B5EF4-FFF2-40B4-BE49-F238E27FC236}">
                <a16:creationId xmlns:a16="http://schemas.microsoft.com/office/drawing/2014/main" id="{CD2ADE85-6824-4248-BE3E-611F78792231}"/>
              </a:ext>
            </a:extLst>
          </p:cNvPr>
          <p:cNvGraphicFramePr>
            <a:graphicFrameLocks noGrp="1"/>
          </p:cNvGraphicFramePr>
          <p:nvPr>
            <p:extLst>
              <p:ext uri="{D42A27DB-BD31-4B8C-83A1-F6EECF244321}">
                <p14:modId xmlns:p14="http://schemas.microsoft.com/office/powerpoint/2010/main" val="3171072100"/>
              </p:ext>
            </p:extLst>
          </p:nvPr>
        </p:nvGraphicFramePr>
        <p:xfrm>
          <a:off x="2032000" y="2283842"/>
          <a:ext cx="8128000" cy="2290315"/>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1890842824"/>
                    </a:ext>
                  </a:extLst>
                </a:gridCol>
                <a:gridCol w="4064000">
                  <a:extLst>
                    <a:ext uri="{9D8B030D-6E8A-4147-A177-3AD203B41FA5}">
                      <a16:colId xmlns:a16="http://schemas.microsoft.com/office/drawing/2014/main" val="4082282699"/>
                    </a:ext>
                  </a:extLst>
                </a:gridCol>
              </a:tblGrid>
              <a:tr h="418208">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Hardware Requirement</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Software Requirement</a:t>
                      </a:r>
                    </a:p>
                  </a:txBody>
                  <a:tcPr anchor="ctr"/>
                </a:tc>
                <a:extLst>
                  <a:ext uri="{0D108BD9-81ED-4DB2-BD59-A6C34878D82A}">
                    <a16:rowId xmlns:a16="http://schemas.microsoft.com/office/drawing/2014/main" val="2103757171"/>
                  </a:ext>
                </a:extLst>
              </a:tr>
              <a:tr h="370840">
                <a:tc>
                  <a:txBody>
                    <a:bodyPr/>
                    <a:lstStyle/>
                    <a:p>
                      <a:pPr marL="285750" indent="-285750" algn="l">
                        <a:lnSpc>
                          <a:spcPct val="150000"/>
                        </a:lnSpc>
                        <a:buFont typeface="Arial" panose="020B0604020202020204" pitchFamily="34" charset="0"/>
                        <a:buChar char="•"/>
                      </a:pPr>
                      <a:r>
                        <a:rPr lang="en-US" sz="1600" b="1" dirty="0">
                          <a:latin typeface="Lato Medium" panose="020F0502020204030203" pitchFamily="34" charset="0"/>
                          <a:ea typeface="Lato Medium" panose="020F0502020204030203" pitchFamily="34" charset="0"/>
                          <a:cs typeface="Lato Medium" panose="020F0502020204030203" pitchFamily="34" charset="0"/>
                        </a:rPr>
                        <a:t>Processor: </a:t>
                      </a:r>
                      <a:r>
                        <a:rPr lang="en-US" sz="1600" b="0" dirty="0">
                          <a:latin typeface="Lato Medium" panose="020F0502020204030203" pitchFamily="34" charset="0"/>
                          <a:ea typeface="Lato Medium" panose="020F0502020204030203" pitchFamily="34" charset="0"/>
                          <a:cs typeface="Lato Medium" panose="020F0502020204030203" pitchFamily="34" charset="0"/>
                        </a:rPr>
                        <a:t>AMD Ryzen 9 7950X</a:t>
                      </a:r>
                      <a:endParaRPr lang="en-US" sz="1600" b="1" dirty="0">
                        <a:latin typeface="Lato Medium" panose="020F0502020204030203" pitchFamily="34" charset="0"/>
                        <a:ea typeface="Lato Medium" panose="020F0502020204030203" pitchFamily="34" charset="0"/>
                        <a:cs typeface="Lato Medium" panose="020F0502020204030203" pitchFamily="34" charset="0"/>
                      </a:endParaRPr>
                    </a:p>
                    <a:p>
                      <a:pPr marL="285750" indent="-285750" algn="l">
                        <a:lnSpc>
                          <a:spcPct val="150000"/>
                        </a:lnSpc>
                        <a:buFont typeface="Arial" panose="020B0604020202020204" pitchFamily="34" charset="0"/>
                        <a:buChar char="•"/>
                      </a:pPr>
                      <a:r>
                        <a:rPr lang="en-US" sz="1600" b="1" dirty="0">
                          <a:latin typeface="Lato Medium" panose="020F0502020204030203" pitchFamily="34" charset="0"/>
                          <a:ea typeface="Lato Medium" panose="020F0502020204030203" pitchFamily="34" charset="0"/>
                          <a:cs typeface="Lato Medium" panose="020F0502020204030203" pitchFamily="34" charset="0"/>
                        </a:rPr>
                        <a:t>RAM: </a:t>
                      </a:r>
                      <a:r>
                        <a:rPr lang="en-US" sz="1600" b="0" dirty="0">
                          <a:latin typeface="Lato Medium" panose="020F0502020204030203" pitchFamily="34" charset="0"/>
                          <a:ea typeface="Lato Medium" panose="020F0502020204030203" pitchFamily="34" charset="0"/>
                          <a:cs typeface="Lato Medium" panose="020F0502020204030203" pitchFamily="34" charset="0"/>
                        </a:rPr>
                        <a:t>128GB</a:t>
                      </a:r>
                      <a:endParaRPr lang="en-US" sz="1600" b="1" dirty="0">
                        <a:latin typeface="Lato Medium" panose="020F0502020204030203" pitchFamily="34" charset="0"/>
                        <a:ea typeface="Lato Medium" panose="020F0502020204030203" pitchFamily="34" charset="0"/>
                        <a:cs typeface="Lato Medium" panose="020F0502020204030203" pitchFamily="34" charset="0"/>
                      </a:endParaRPr>
                    </a:p>
                    <a:p>
                      <a:pPr marL="285750" indent="-285750" algn="l">
                        <a:lnSpc>
                          <a:spcPct val="150000"/>
                        </a:lnSpc>
                        <a:buFont typeface="Arial" panose="020B0604020202020204" pitchFamily="34" charset="0"/>
                        <a:buChar char="•"/>
                      </a:pPr>
                      <a:r>
                        <a:rPr lang="en-US" sz="1600" b="1" dirty="0">
                          <a:latin typeface="Lato Medium" panose="020F0502020204030203" pitchFamily="34" charset="0"/>
                          <a:ea typeface="Lato Medium" panose="020F0502020204030203" pitchFamily="34" charset="0"/>
                          <a:cs typeface="Lato Medium" panose="020F0502020204030203" pitchFamily="34" charset="0"/>
                        </a:rPr>
                        <a:t>GPU: </a:t>
                      </a:r>
                      <a:r>
                        <a:rPr lang="en-US" sz="1600" b="0" dirty="0">
                          <a:latin typeface="Lato Medium" panose="020F0502020204030203" pitchFamily="34" charset="0"/>
                          <a:ea typeface="Lato Medium" panose="020F0502020204030203" pitchFamily="34" charset="0"/>
                          <a:cs typeface="Lato Medium" panose="020F0502020204030203" pitchFamily="34" charset="0"/>
                        </a:rPr>
                        <a:t>NVIDIA RTX 4090</a:t>
                      </a:r>
                    </a:p>
                    <a:p>
                      <a:pPr marL="285750" indent="-285750" algn="l">
                        <a:lnSpc>
                          <a:spcPct val="150000"/>
                        </a:lnSpc>
                        <a:buFont typeface="Arial" panose="020B0604020202020204" pitchFamily="34" charset="0"/>
                        <a:buChar char="•"/>
                      </a:pPr>
                      <a:r>
                        <a:rPr lang="en-US" sz="1600" b="1" dirty="0">
                          <a:latin typeface="Lato Medium" panose="020F0502020204030203" pitchFamily="34" charset="0"/>
                          <a:ea typeface="Lato Medium" panose="020F0502020204030203" pitchFamily="34" charset="0"/>
                          <a:cs typeface="Lato Medium" panose="020F0502020204030203" pitchFamily="34" charset="0"/>
                        </a:rPr>
                        <a:t>Storage: </a:t>
                      </a:r>
                      <a:r>
                        <a:rPr lang="en-US" sz="1600" b="0" dirty="0">
                          <a:latin typeface="Lato Medium" panose="020F0502020204030203" pitchFamily="34" charset="0"/>
                          <a:ea typeface="Lato Medium" panose="020F0502020204030203" pitchFamily="34" charset="0"/>
                          <a:cs typeface="Lato Medium" panose="020F0502020204030203" pitchFamily="34" charset="0"/>
                        </a:rPr>
                        <a:t>5.46TB</a:t>
                      </a:r>
                    </a:p>
                    <a:p>
                      <a:pPr marL="285750" indent="-285750" algn="ctr">
                        <a:lnSpc>
                          <a:spcPct val="150000"/>
                        </a:lnSpc>
                        <a:buFont typeface="Arial" panose="020B0604020202020204" pitchFamily="34" charset="0"/>
                        <a:buChar char="•"/>
                      </a:pPr>
                      <a:endParaRPr lang="en-US" sz="1600" b="1" dirty="0">
                        <a:latin typeface="Lato Medium" panose="020F0502020204030203" pitchFamily="34" charset="0"/>
                        <a:ea typeface="Lato Medium" panose="020F0502020204030203" pitchFamily="34" charset="0"/>
                        <a:cs typeface="Lato Medium" panose="020F0502020204030203" pitchFamily="34" charset="0"/>
                      </a:endParaRPr>
                    </a:p>
                  </a:txBody>
                  <a:tcPr anchor="ctr"/>
                </a:tc>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Operating System: </a:t>
                      </a:r>
                      <a:r>
                        <a:rPr lang="en-US" sz="1600" b="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Windows</a:t>
                      </a:r>
                      <a:endPar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Programming Language: </a:t>
                      </a:r>
                      <a:r>
                        <a:rPr lang="en-US" sz="1600" b="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Python</a:t>
                      </a:r>
                      <a:endPar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Development Tools: </a:t>
                      </a:r>
                      <a:r>
                        <a:rPr lang="en-US" sz="1600" b="0" dirty="0" err="1">
                          <a:solidFill>
                            <a:schemeClr val="tx1"/>
                          </a:solidFill>
                          <a:latin typeface="Lato Medium" panose="020F0502020204030203" pitchFamily="34" charset="0"/>
                          <a:ea typeface="Lato Medium" panose="020F0502020204030203" pitchFamily="34" charset="0"/>
                          <a:cs typeface="Lato Medium" panose="020F0502020204030203" pitchFamily="34" charset="0"/>
                        </a:rPr>
                        <a:t>Jupyter</a:t>
                      </a:r>
                      <a:r>
                        <a:rPr lang="en-US" sz="1600" b="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 Notebook</a:t>
                      </a:r>
                      <a:endPar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Platform: </a:t>
                      </a:r>
                      <a:r>
                        <a:rPr lang="en-US" sz="1600" b="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VS Code, Google </a:t>
                      </a:r>
                      <a:r>
                        <a:rPr lang="en-US" sz="1600" b="0" dirty="0" err="1">
                          <a:solidFill>
                            <a:schemeClr val="tx1"/>
                          </a:solidFill>
                          <a:latin typeface="Lato Medium" panose="020F0502020204030203" pitchFamily="34" charset="0"/>
                          <a:ea typeface="Lato Medium" panose="020F0502020204030203" pitchFamily="34" charset="0"/>
                          <a:cs typeface="Lato Medium" panose="020F0502020204030203" pitchFamily="34" charset="0"/>
                        </a:rPr>
                        <a:t>Colab</a:t>
                      </a:r>
                      <a:r>
                        <a:rPr lang="en-US" sz="1600" b="0" dirty="0">
                          <a:solidFill>
                            <a:schemeClr val="tx1"/>
                          </a:solidFill>
                          <a:latin typeface="Lato Medium" panose="020F0502020204030203" pitchFamily="34" charset="0"/>
                          <a:ea typeface="Lato Medium" panose="020F0502020204030203" pitchFamily="34" charset="0"/>
                          <a:cs typeface="Lato Medium" panose="020F0502020204030203" pitchFamily="34" charset="0"/>
                        </a:rPr>
                        <a:t>, Kaggle</a:t>
                      </a:r>
                      <a:endParaRPr lang="en-US" sz="1600" b="1" dirty="0">
                        <a:solidFill>
                          <a:schemeClr val="tx1"/>
                        </a:solidFill>
                        <a:latin typeface="Lato Medium" panose="020F0502020204030203" pitchFamily="34" charset="0"/>
                        <a:ea typeface="Lato Medium" panose="020F0502020204030203" pitchFamily="34" charset="0"/>
                        <a:cs typeface="Lato Medium" panose="020F0502020204030203" pitchFamily="34" charset="0"/>
                      </a:endParaRPr>
                    </a:p>
                  </a:txBody>
                  <a:tcPr anchor="ctr"/>
                </a:tc>
                <a:extLst>
                  <a:ext uri="{0D108BD9-81ED-4DB2-BD59-A6C34878D82A}">
                    <a16:rowId xmlns:a16="http://schemas.microsoft.com/office/drawing/2014/main" val="3920237014"/>
                  </a:ext>
                </a:extLst>
              </a:tr>
            </a:tbl>
          </a:graphicData>
        </a:graphic>
      </p:graphicFrame>
      <p:sp>
        <p:nvSpPr>
          <p:cNvPr id="3" name="Rectangle 2">
            <a:extLst>
              <a:ext uri="{FF2B5EF4-FFF2-40B4-BE49-F238E27FC236}">
                <a16:creationId xmlns:a16="http://schemas.microsoft.com/office/drawing/2014/main" id="{543849DC-D86D-0340-8D96-717116997D7F}"/>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08</a:t>
            </a:r>
          </a:p>
        </p:txBody>
      </p:sp>
    </p:spTree>
    <p:extLst>
      <p:ext uri="{BB962C8B-B14F-4D97-AF65-F5344CB8AC3E}">
        <p14:creationId xmlns:p14="http://schemas.microsoft.com/office/powerpoint/2010/main" val="3172403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816122" y="205947"/>
            <a:ext cx="10559754"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Methodology</a:t>
            </a:r>
          </a:p>
        </p:txBody>
      </p:sp>
      <p:sp>
        <p:nvSpPr>
          <p:cNvPr id="8" name="TextBox 7">
            <a:extLst>
              <a:ext uri="{FF2B5EF4-FFF2-40B4-BE49-F238E27FC236}">
                <a16:creationId xmlns:a16="http://schemas.microsoft.com/office/drawing/2014/main" id="{208FCA17-610A-0AD6-77D7-31428B02AC52}"/>
              </a:ext>
            </a:extLst>
          </p:cNvPr>
          <p:cNvSpPr txBox="1"/>
          <p:nvPr/>
        </p:nvSpPr>
        <p:spPr>
          <a:xfrm>
            <a:off x="3047999" y="6528942"/>
            <a:ext cx="6096000"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a:t>
            </a:r>
            <a:r>
              <a:rPr lang="en-US" sz="1000" dirty="0">
                <a:latin typeface="Lato Medium" panose="020F0502020204030203" pitchFamily="34" charset="0"/>
                <a:ea typeface="Lato Medium" panose="020F0502020204030203" pitchFamily="34" charset="0"/>
                <a:cs typeface="Lato Medium" panose="020F0502020204030203" pitchFamily="34" charset="0"/>
              </a:rPr>
              <a:t> Methodology of A-RICD NIA</a:t>
            </a:r>
          </a:p>
        </p:txBody>
      </p:sp>
      <p:sp>
        <p:nvSpPr>
          <p:cNvPr id="3" name="Rectangle 2">
            <a:extLst>
              <a:ext uri="{FF2B5EF4-FFF2-40B4-BE49-F238E27FC236}">
                <a16:creationId xmlns:a16="http://schemas.microsoft.com/office/drawing/2014/main" id="{7F72937C-2419-F23C-A275-79F8449FDC64}"/>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09</a:t>
            </a:r>
          </a:p>
        </p:txBody>
      </p:sp>
      <p:pic>
        <p:nvPicPr>
          <p:cNvPr id="5" name="Graphic 4">
            <a:extLst>
              <a:ext uri="{FF2B5EF4-FFF2-40B4-BE49-F238E27FC236}">
                <a16:creationId xmlns:a16="http://schemas.microsoft.com/office/drawing/2014/main" id="{B131D785-965E-50ED-5BBA-35B91A8BDB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2042" y="730534"/>
            <a:ext cx="10387914" cy="5686654"/>
          </a:xfrm>
          <a:prstGeom prst="rect">
            <a:avLst/>
          </a:prstGeom>
        </p:spPr>
      </p:pic>
    </p:spTree>
    <p:extLst>
      <p:ext uri="{BB962C8B-B14F-4D97-AF65-F5344CB8AC3E}">
        <p14:creationId xmlns:p14="http://schemas.microsoft.com/office/powerpoint/2010/main" val="2958748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Dataset Overview</a:t>
            </a:r>
          </a:p>
        </p:txBody>
      </p:sp>
      <p:sp>
        <p:nvSpPr>
          <p:cNvPr id="3" name="Rectangle 2">
            <a:extLst>
              <a:ext uri="{FF2B5EF4-FFF2-40B4-BE49-F238E27FC236}">
                <a16:creationId xmlns:a16="http://schemas.microsoft.com/office/drawing/2014/main" id="{D984FA52-3B79-56A3-7599-89BC464552B8}"/>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10</a:t>
            </a:r>
          </a:p>
        </p:txBody>
      </p:sp>
      <p:sp>
        <p:nvSpPr>
          <p:cNvPr id="13" name="TextBox 12">
            <a:extLst>
              <a:ext uri="{FF2B5EF4-FFF2-40B4-BE49-F238E27FC236}">
                <a16:creationId xmlns:a16="http://schemas.microsoft.com/office/drawing/2014/main" id="{BB3C22AF-8A12-9C91-8684-1C0968BB60E0}"/>
              </a:ext>
            </a:extLst>
          </p:cNvPr>
          <p:cNvSpPr txBox="1"/>
          <p:nvPr/>
        </p:nvSpPr>
        <p:spPr>
          <a:xfrm>
            <a:off x="452165" y="5303213"/>
            <a:ext cx="5923002"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2:</a:t>
            </a:r>
            <a:r>
              <a:rPr lang="en-US" sz="1000" dirty="0">
                <a:latin typeface="Lato Medium" panose="020F0502020204030203" pitchFamily="34" charset="0"/>
                <a:ea typeface="Lato Medium" panose="020F0502020204030203" pitchFamily="34" charset="0"/>
                <a:cs typeface="Lato Medium" panose="020F0502020204030203" pitchFamily="34" charset="0"/>
              </a:rPr>
              <a:t> Distribution of samples across the three task-specific splits of the </a:t>
            </a:r>
            <a:r>
              <a:rPr lang="en-US" sz="1000" dirty="0" err="1">
                <a:latin typeface="Lato Medium" panose="020F0502020204030203" pitchFamily="34" charset="0"/>
                <a:ea typeface="Lato Medium" panose="020F0502020204030203" pitchFamily="34" charset="0"/>
                <a:cs typeface="Lato Medium" panose="020F0502020204030203" pitchFamily="34" charset="0"/>
              </a:rPr>
              <a:t>HaluEval</a:t>
            </a:r>
            <a:r>
              <a:rPr lang="en-US" sz="1000" dirty="0">
                <a:latin typeface="Lato Medium" panose="020F0502020204030203" pitchFamily="34" charset="0"/>
                <a:ea typeface="Lato Medium" panose="020F0502020204030203" pitchFamily="34" charset="0"/>
                <a:cs typeface="Lato Medium" panose="020F0502020204030203" pitchFamily="34" charset="0"/>
              </a:rPr>
              <a:t> dataset: Question Answering (QA), Dialogue, and Summarization.</a:t>
            </a:r>
          </a:p>
        </p:txBody>
      </p:sp>
      <p:sp>
        <p:nvSpPr>
          <p:cNvPr id="9" name="TextBox 8">
            <a:extLst>
              <a:ext uri="{FF2B5EF4-FFF2-40B4-BE49-F238E27FC236}">
                <a16:creationId xmlns:a16="http://schemas.microsoft.com/office/drawing/2014/main" id="{006221B5-1353-91E1-E35B-F35DEBF916F9}"/>
              </a:ext>
            </a:extLst>
          </p:cNvPr>
          <p:cNvSpPr txBox="1"/>
          <p:nvPr/>
        </p:nvSpPr>
        <p:spPr>
          <a:xfrm>
            <a:off x="843456" y="1275244"/>
            <a:ext cx="6104238" cy="584775"/>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Training Dataset: </a:t>
            </a:r>
            <a:r>
              <a:rPr lang="en-US" sz="1600" dirty="0" err="1">
                <a:latin typeface="Lato Medium" panose="020F0502020204030203" pitchFamily="34" charset="0"/>
                <a:ea typeface="Lato Medium" panose="020F0502020204030203" pitchFamily="34" charset="0"/>
                <a:cs typeface="Lato Medium" panose="020F0502020204030203" pitchFamily="34" charset="0"/>
              </a:rPr>
              <a:t>HaluEval</a:t>
            </a:r>
            <a:r>
              <a:rPr lang="en-US" sz="1600" dirty="0">
                <a:latin typeface="Lato Medium" panose="020F0502020204030203" pitchFamily="34" charset="0"/>
                <a:ea typeface="Lato Medium" panose="020F0502020204030203" pitchFamily="34" charset="0"/>
                <a:cs typeface="Lato Medium" panose="020F0502020204030203" pitchFamily="34" charset="0"/>
              </a:rPr>
              <a:t> (QA, Dialogue, Summarization)</a:t>
            </a:r>
            <a:endParaRPr lang="en-US" sz="1600" b="1" dirty="0">
              <a:latin typeface="Lato Medium" panose="020F0502020204030203" pitchFamily="34" charset="0"/>
              <a:ea typeface="Lato Medium" panose="020F0502020204030203" pitchFamily="34" charset="0"/>
              <a:cs typeface="Lato Medium" panose="020F0502020204030203" pitchFamily="34" charset="0"/>
            </a:endParaRPr>
          </a:p>
          <a:p>
            <a:r>
              <a:rPr lang="en-US" sz="1600" b="1" dirty="0">
                <a:latin typeface="Lato Medium" panose="020F0502020204030203" pitchFamily="34" charset="0"/>
                <a:ea typeface="Lato Medium" panose="020F0502020204030203" pitchFamily="34" charset="0"/>
                <a:cs typeface="Lato Medium" panose="020F0502020204030203" pitchFamily="34" charset="0"/>
              </a:rPr>
              <a:t>Source: </a:t>
            </a:r>
            <a:r>
              <a:rPr lang="en-US" sz="1600" dirty="0">
                <a:latin typeface="Lato Medium" panose="020F0502020204030203" pitchFamily="34" charset="0"/>
                <a:ea typeface="Lato Medium" panose="020F0502020204030203" pitchFamily="34" charset="0"/>
                <a:cs typeface="Lato Medium" panose="020F0502020204030203" pitchFamily="34" charset="0"/>
                <a:hlinkClick r:id="rId2"/>
              </a:rPr>
              <a:t>reference</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sp>
        <p:nvSpPr>
          <p:cNvPr id="11" name="TextBox 10">
            <a:extLst>
              <a:ext uri="{FF2B5EF4-FFF2-40B4-BE49-F238E27FC236}">
                <a16:creationId xmlns:a16="http://schemas.microsoft.com/office/drawing/2014/main" id="{3AF29F93-447B-F2E6-1B85-1581C1328B7B}"/>
              </a:ext>
            </a:extLst>
          </p:cNvPr>
          <p:cNvSpPr txBox="1"/>
          <p:nvPr/>
        </p:nvSpPr>
        <p:spPr>
          <a:xfrm>
            <a:off x="6739099" y="5316547"/>
            <a:ext cx="4425824"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3:</a:t>
            </a:r>
            <a:r>
              <a:rPr lang="en-US" sz="1000" dirty="0">
                <a:latin typeface="Lato Medium" panose="020F0502020204030203" pitchFamily="34" charset="0"/>
                <a:ea typeface="Lato Medium" panose="020F0502020204030203" pitchFamily="34" charset="0"/>
                <a:cs typeface="Lato Medium" panose="020F0502020204030203" pitchFamily="34" charset="0"/>
              </a:rPr>
              <a:t> Distribution of samples after preprocessing</a:t>
            </a:r>
          </a:p>
        </p:txBody>
      </p:sp>
      <p:pic>
        <p:nvPicPr>
          <p:cNvPr id="6" name="Picture 5">
            <a:extLst>
              <a:ext uri="{FF2B5EF4-FFF2-40B4-BE49-F238E27FC236}">
                <a16:creationId xmlns:a16="http://schemas.microsoft.com/office/drawing/2014/main" id="{6315D95B-E779-9182-7EB1-F211DDD4F9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4142" y="1966664"/>
            <a:ext cx="4539048" cy="3263238"/>
          </a:xfrm>
          <a:prstGeom prst="rect">
            <a:avLst/>
          </a:prstGeom>
        </p:spPr>
      </p:pic>
      <p:pic>
        <p:nvPicPr>
          <p:cNvPr id="8" name="Picture 7">
            <a:extLst>
              <a:ext uri="{FF2B5EF4-FFF2-40B4-BE49-F238E27FC236}">
                <a16:creationId xmlns:a16="http://schemas.microsoft.com/office/drawing/2014/main" id="{D99202A8-F4C6-AAFA-5D05-F1642A76C5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9099" y="2048064"/>
            <a:ext cx="4425824" cy="3181838"/>
          </a:xfrm>
          <a:prstGeom prst="rect">
            <a:avLst/>
          </a:prstGeom>
        </p:spPr>
      </p:pic>
    </p:spTree>
    <p:extLst>
      <p:ext uri="{BB962C8B-B14F-4D97-AF65-F5344CB8AC3E}">
        <p14:creationId xmlns:p14="http://schemas.microsoft.com/office/powerpoint/2010/main" val="417079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84FA52-3B79-56A3-7599-89BC464552B8}"/>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11</a:t>
            </a:r>
          </a:p>
        </p:txBody>
      </p:sp>
      <p:sp>
        <p:nvSpPr>
          <p:cNvPr id="13" name="TextBox 12">
            <a:extLst>
              <a:ext uri="{FF2B5EF4-FFF2-40B4-BE49-F238E27FC236}">
                <a16:creationId xmlns:a16="http://schemas.microsoft.com/office/drawing/2014/main" id="{BB3C22AF-8A12-9C91-8684-1C0968BB60E0}"/>
              </a:ext>
            </a:extLst>
          </p:cNvPr>
          <p:cNvSpPr txBox="1"/>
          <p:nvPr/>
        </p:nvSpPr>
        <p:spPr>
          <a:xfrm>
            <a:off x="3134499" y="5906991"/>
            <a:ext cx="5923002"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4:</a:t>
            </a:r>
            <a:r>
              <a:rPr lang="en-US" sz="1000" dirty="0">
                <a:latin typeface="Lato Medium" panose="020F0502020204030203" pitchFamily="34" charset="0"/>
                <a:ea typeface="Lato Medium" panose="020F0502020204030203" pitchFamily="34" charset="0"/>
                <a:cs typeface="Lato Medium" panose="020F0502020204030203" pitchFamily="34" charset="0"/>
              </a:rPr>
              <a:t> Category-wise distribution of questions in the </a:t>
            </a:r>
            <a:r>
              <a:rPr lang="en-US" sz="10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000" dirty="0">
                <a:latin typeface="Lato Medium" panose="020F0502020204030203" pitchFamily="34" charset="0"/>
                <a:ea typeface="Lato Medium" panose="020F0502020204030203" pitchFamily="34" charset="0"/>
                <a:cs typeface="Lato Medium" panose="020F0502020204030203" pitchFamily="34" charset="0"/>
              </a:rPr>
              <a:t> benchmark</a:t>
            </a:r>
          </a:p>
        </p:txBody>
      </p:sp>
      <p:sp>
        <p:nvSpPr>
          <p:cNvPr id="4" name="TextBox 3">
            <a:extLst>
              <a:ext uri="{FF2B5EF4-FFF2-40B4-BE49-F238E27FC236}">
                <a16:creationId xmlns:a16="http://schemas.microsoft.com/office/drawing/2014/main" id="{130D5D84-FBAC-AEF8-BF69-EFBB06F643BB}"/>
              </a:ext>
            </a:extLst>
          </p:cNvPr>
          <p:cNvSpPr txBox="1"/>
          <p:nvPr/>
        </p:nvSpPr>
        <p:spPr>
          <a:xfrm>
            <a:off x="843456" y="863354"/>
            <a:ext cx="6104238" cy="584775"/>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Evaluation Dataset: </a:t>
            </a:r>
            <a:r>
              <a:rPr lang="en-US" sz="1600" dirty="0" err="1">
                <a:latin typeface="Lato Medium" panose="020F0502020204030203" pitchFamily="34" charset="0"/>
                <a:ea typeface="Lato Medium" panose="020F0502020204030203" pitchFamily="34" charset="0"/>
                <a:cs typeface="Lato Medium" panose="020F0502020204030203" pitchFamily="34" charset="0"/>
              </a:rPr>
              <a:t>TruthfulQA</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a:p>
            <a:r>
              <a:rPr lang="en-US" sz="1600" b="1" dirty="0">
                <a:latin typeface="Lato Medium" panose="020F0502020204030203" pitchFamily="34" charset="0"/>
                <a:ea typeface="Lato Medium" panose="020F0502020204030203" pitchFamily="34" charset="0"/>
                <a:cs typeface="Lato Medium" panose="020F0502020204030203" pitchFamily="34" charset="0"/>
              </a:rPr>
              <a:t>Source: </a:t>
            </a:r>
            <a:r>
              <a:rPr lang="en-US" sz="1600" dirty="0">
                <a:latin typeface="Lato Medium" panose="020F0502020204030203" pitchFamily="34" charset="0"/>
                <a:ea typeface="Lato Medium" panose="020F0502020204030203" pitchFamily="34" charset="0"/>
                <a:cs typeface="Lato Medium" panose="020F0502020204030203" pitchFamily="34" charset="0"/>
                <a:hlinkClick r:id="rId2"/>
              </a:rPr>
              <a:t>reference</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sp>
        <p:nvSpPr>
          <p:cNvPr id="7" name="Title 1">
            <a:extLst>
              <a:ext uri="{FF2B5EF4-FFF2-40B4-BE49-F238E27FC236}">
                <a16:creationId xmlns:a16="http://schemas.microsoft.com/office/drawing/2014/main" id="{B25ACC9E-0D9C-70AE-CE27-574CFA931742}"/>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Dataset Overview (Cont.)</a:t>
            </a:r>
          </a:p>
        </p:txBody>
      </p:sp>
      <p:pic>
        <p:nvPicPr>
          <p:cNvPr id="5" name="Picture 4">
            <a:extLst>
              <a:ext uri="{FF2B5EF4-FFF2-40B4-BE49-F238E27FC236}">
                <a16:creationId xmlns:a16="http://schemas.microsoft.com/office/drawing/2014/main" id="{4207646E-0FF2-6A7B-BFFF-CA956DB83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904" y="1631306"/>
            <a:ext cx="9250192" cy="4084269"/>
          </a:xfrm>
          <a:prstGeom prst="rect">
            <a:avLst/>
          </a:prstGeom>
        </p:spPr>
      </p:pic>
    </p:spTree>
    <p:extLst>
      <p:ext uri="{BB962C8B-B14F-4D97-AF65-F5344CB8AC3E}">
        <p14:creationId xmlns:p14="http://schemas.microsoft.com/office/powerpoint/2010/main" val="1576622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121281"/>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Models &amp; Result</a:t>
            </a:r>
          </a:p>
        </p:txBody>
      </p:sp>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12</a:t>
            </a:r>
          </a:p>
        </p:txBody>
      </p:sp>
      <p:sp>
        <p:nvSpPr>
          <p:cNvPr id="21" name="TextBox 20">
            <a:extLst>
              <a:ext uri="{FF2B5EF4-FFF2-40B4-BE49-F238E27FC236}">
                <a16:creationId xmlns:a16="http://schemas.microsoft.com/office/drawing/2014/main" id="{8967E42A-7F00-B1CE-416F-EB5409496BE8}"/>
              </a:ext>
            </a:extLst>
          </p:cNvPr>
          <p:cNvSpPr txBox="1"/>
          <p:nvPr/>
        </p:nvSpPr>
        <p:spPr>
          <a:xfrm>
            <a:off x="296565" y="831889"/>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LLM Models</a:t>
            </a:r>
          </a:p>
        </p:txBody>
      </p:sp>
      <p:graphicFrame>
        <p:nvGraphicFramePr>
          <p:cNvPr id="4" name="Table 3">
            <a:extLst>
              <a:ext uri="{FF2B5EF4-FFF2-40B4-BE49-F238E27FC236}">
                <a16:creationId xmlns:a16="http://schemas.microsoft.com/office/drawing/2014/main" id="{68B2834C-BB63-0E6A-9FB3-34F536A6C90C}"/>
              </a:ext>
            </a:extLst>
          </p:cNvPr>
          <p:cNvGraphicFramePr>
            <a:graphicFrameLocks noGrp="1"/>
          </p:cNvGraphicFramePr>
          <p:nvPr>
            <p:extLst>
              <p:ext uri="{D42A27DB-BD31-4B8C-83A1-F6EECF244321}">
                <p14:modId xmlns:p14="http://schemas.microsoft.com/office/powerpoint/2010/main" val="1896058178"/>
              </p:ext>
            </p:extLst>
          </p:nvPr>
        </p:nvGraphicFramePr>
        <p:xfrm>
          <a:off x="2032000" y="1419834"/>
          <a:ext cx="8128000" cy="1112520"/>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1518886224"/>
                    </a:ext>
                  </a:extLst>
                </a:gridCol>
                <a:gridCol w="4064000">
                  <a:extLst>
                    <a:ext uri="{9D8B030D-6E8A-4147-A177-3AD203B41FA5}">
                      <a16:colId xmlns:a16="http://schemas.microsoft.com/office/drawing/2014/main" val="1234777731"/>
                    </a:ext>
                  </a:extLst>
                </a:gridCol>
              </a:tblGrid>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Expert LLM Setup</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Amateur LLM Setup</a:t>
                      </a:r>
                    </a:p>
                  </a:txBody>
                  <a:tcPr/>
                </a:tc>
                <a:extLst>
                  <a:ext uri="{0D108BD9-81ED-4DB2-BD59-A6C34878D82A}">
                    <a16:rowId xmlns:a16="http://schemas.microsoft.com/office/drawing/2014/main" val="1171558795"/>
                  </a:ext>
                </a:extLst>
              </a:tr>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meta-llama/Llama-2-7b-chat</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meta-llama/Llama-2-7b-hf</a:t>
                      </a:r>
                    </a:p>
                  </a:txBody>
                  <a:tcPr/>
                </a:tc>
                <a:extLst>
                  <a:ext uri="{0D108BD9-81ED-4DB2-BD59-A6C34878D82A}">
                    <a16:rowId xmlns:a16="http://schemas.microsoft.com/office/drawing/2014/main" val="530486578"/>
                  </a:ext>
                </a:extLst>
              </a:tr>
              <a:tr h="370840">
                <a:tc>
                  <a:txBody>
                    <a:bodyPr/>
                    <a:lstStyle/>
                    <a:p>
                      <a:pPr algn="ctr"/>
                      <a:r>
                        <a:rPr lang="en-US" sz="1600" dirty="0" err="1">
                          <a:latin typeface="Lato Medium" panose="020F0502020204030203" pitchFamily="34" charset="0"/>
                          <a:ea typeface="Lato Medium" panose="020F0502020204030203" pitchFamily="34" charset="0"/>
                          <a:cs typeface="Lato Medium" panose="020F0502020204030203" pitchFamily="34" charset="0"/>
                        </a:rPr>
                        <a:t>mistralai</a:t>
                      </a:r>
                      <a:r>
                        <a:rPr lang="en-US" sz="1600" dirty="0">
                          <a:latin typeface="Lato Medium" panose="020F0502020204030203" pitchFamily="34" charset="0"/>
                          <a:ea typeface="Lato Medium" panose="020F0502020204030203" pitchFamily="34" charset="0"/>
                          <a:cs typeface="Lato Medium" panose="020F0502020204030203" pitchFamily="34" charset="0"/>
                        </a:rPr>
                        <a:t>/Mistral-7B-Instruct-v0.1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dk1"/>
                          </a:solidFill>
                          <a:effectLst/>
                          <a:latin typeface="+mn-lt"/>
                          <a:ea typeface="+mn-ea"/>
                          <a:cs typeface="+mn-cs"/>
                        </a:rPr>
                        <a:t>mistralai</a:t>
                      </a:r>
                      <a:r>
                        <a:rPr lang="en-US" sz="1800" b="0" kern="1200" dirty="0">
                          <a:solidFill>
                            <a:schemeClr val="dk1"/>
                          </a:solidFill>
                          <a:effectLst/>
                          <a:latin typeface="+mn-lt"/>
                          <a:ea typeface="+mn-ea"/>
                          <a:cs typeface="+mn-cs"/>
                        </a:rPr>
                        <a:t>/Mistral-7B-v0.1</a:t>
                      </a:r>
                    </a:p>
                  </a:txBody>
                  <a:tcPr/>
                </a:tc>
                <a:extLst>
                  <a:ext uri="{0D108BD9-81ED-4DB2-BD59-A6C34878D82A}">
                    <a16:rowId xmlns:a16="http://schemas.microsoft.com/office/drawing/2014/main" val="125171657"/>
                  </a:ext>
                </a:extLst>
              </a:tr>
            </a:tbl>
          </a:graphicData>
        </a:graphic>
      </p:graphicFrame>
      <p:sp>
        <p:nvSpPr>
          <p:cNvPr id="5" name="TextBox 4">
            <a:extLst>
              <a:ext uri="{FF2B5EF4-FFF2-40B4-BE49-F238E27FC236}">
                <a16:creationId xmlns:a16="http://schemas.microsoft.com/office/drawing/2014/main" id="{63E73051-676F-B694-372B-E215FF937261}"/>
              </a:ext>
            </a:extLst>
          </p:cNvPr>
          <p:cNvSpPr txBox="1"/>
          <p:nvPr/>
        </p:nvSpPr>
        <p:spPr>
          <a:xfrm>
            <a:off x="296565" y="3190172"/>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A-RICD H2H (Head-to-Head)</a:t>
            </a:r>
          </a:p>
        </p:txBody>
      </p:sp>
      <p:graphicFrame>
        <p:nvGraphicFramePr>
          <p:cNvPr id="6" name="Table 5">
            <a:extLst>
              <a:ext uri="{FF2B5EF4-FFF2-40B4-BE49-F238E27FC236}">
                <a16:creationId xmlns:a16="http://schemas.microsoft.com/office/drawing/2014/main" id="{2328CF06-CF6A-04F3-C706-87936D6B5540}"/>
              </a:ext>
            </a:extLst>
          </p:cNvPr>
          <p:cNvGraphicFramePr>
            <a:graphicFrameLocks noGrp="1"/>
          </p:cNvGraphicFramePr>
          <p:nvPr>
            <p:extLst>
              <p:ext uri="{D42A27DB-BD31-4B8C-83A1-F6EECF244321}">
                <p14:modId xmlns:p14="http://schemas.microsoft.com/office/powerpoint/2010/main" val="709992740"/>
              </p:ext>
            </p:extLst>
          </p:nvPr>
        </p:nvGraphicFramePr>
        <p:xfrm>
          <a:off x="2032000" y="4634940"/>
          <a:ext cx="8128000" cy="1112520"/>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1518886224"/>
                    </a:ext>
                  </a:extLst>
                </a:gridCol>
                <a:gridCol w="4064000">
                  <a:extLst>
                    <a:ext uri="{9D8B030D-6E8A-4147-A177-3AD203B41FA5}">
                      <a16:colId xmlns:a16="http://schemas.microsoft.com/office/drawing/2014/main" val="1234777731"/>
                    </a:ext>
                  </a:extLst>
                </a:gridCol>
              </a:tblGrid>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Expert LLM Setup</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Amateur LLM Setup</a:t>
                      </a:r>
                    </a:p>
                  </a:txBody>
                  <a:tcPr/>
                </a:tc>
                <a:extLst>
                  <a:ext uri="{0D108BD9-81ED-4DB2-BD59-A6C34878D82A}">
                    <a16:rowId xmlns:a16="http://schemas.microsoft.com/office/drawing/2014/main" val="1171558795"/>
                  </a:ext>
                </a:extLst>
              </a:tr>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meta-llama/Llama-2-7b-chat</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meta-llama/Llama-2-7b-hf + H2H_LoRA1</a:t>
                      </a:r>
                    </a:p>
                  </a:txBody>
                  <a:tcPr/>
                </a:tc>
                <a:extLst>
                  <a:ext uri="{0D108BD9-81ED-4DB2-BD59-A6C34878D82A}">
                    <a16:rowId xmlns:a16="http://schemas.microsoft.com/office/drawing/2014/main" val="530486578"/>
                  </a:ext>
                </a:extLst>
              </a:tr>
              <a:tr h="370840">
                <a:tc>
                  <a:txBody>
                    <a:bodyPr/>
                    <a:lstStyle/>
                    <a:p>
                      <a:pPr algn="ctr"/>
                      <a:r>
                        <a:rPr lang="en-US" sz="1600" dirty="0" err="1">
                          <a:latin typeface="Lato Medium" panose="020F0502020204030203" pitchFamily="34" charset="0"/>
                          <a:ea typeface="Lato Medium" panose="020F0502020204030203" pitchFamily="34" charset="0"/>
                          <a:cs typeface="Lato Medium" panose="020F0502020204030203" pitchFamily="34" charset="0"/>
                        </a:rPr>
                        <a:t>mistralai</a:t>
                      </a:r>
                      <a:r>
                        <a:rPr lang="en-US" sz="1600" dirty="0">
                          <a:latin typeface="Lato Medium" panose="020F0502020204030203" pitchFamily="34" charset="0"/>
                          <a:ea typeface="Lato Medium" panose="020F0502020204030203" pitchFamily="34" charset="0"/>
                          <a:cs typeface="Lato Medium" panose="020F0502020204030203" pitchFamily="34" charset="0"/>
                        </a:rPr>
                        <a:t>/Mistral-7B-Instruct-v0.1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kern="1200" dirty="0" err="1">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mistralai</a:t>
                      </a:r>
                      <a:r>
                        <a:rPr lang="en-US" sz="1600" b="0" kern="1200" dirty="0">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/Mistral-7B-v0.1 + H2H_LoRA2</a:t>
                      </a:r>
                    </a:p>
                  </a:txBody>
                  <a:tcPr/>
                </a:tc>
                <a:extLst>
                  <a:ext uri="{0D108BD9-81ED-4DB2-BD59-A6C34878D82A}">
                    <a16:rowId xmlns:a16="http://schemas.microsoft.com/office/drawing/2014/main" val="125171657"/>
                  </a:ext>
                </a:extLst>
              </a:tr>
            </a:tbl>
          </a:graphicData>
        </a:graphic>
      </p:graphicFrame>
      <p:sp>
        <p:nvSpPr>
          <p:cNvPr id="7" name="TextBox 6">
            <a:extLst>
              <a:ext uri="{FF2B5EF4-FFF2-40B4-BE49-F238E27FC236}">
                <a16:creationId xmlns:a16="http://schemas.microsoft.com/office/drawing/2014/main" id="{F49793A5-D615-BD16-6F67-CDCAA55D5F1A}"/>
              </a:ext>
            </a:extLst>
          </p:cNvPr>
          <p:cNvSpPr txBox="1"/>
          <p:nvPr/>
        </p:nvSpPr>
        <p:spPr>
          <a:xfrm>
            <a:off x="2032000" y="3779330"/>
            <a:ext cx="6104238" cy="584775"/>
          </a:xfrm>
          <a:prstGeom prst="rect">
            <a:avLst/>
          </a:prstGeom>
          <a:noFill/>
        </p:spPr>
        <p:txBody>
          <a:bodyPr wrap="square">
            <a:spAutoFit/>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H2H_LoRA1 : meta-llama/Llama-2-7b-hf</a:t>
            </a:r>
            <a:br>
              <a:rPr lang="en-US" sz="1600" dirty="0">
                <a:latin typeface="Lato Medium" panose="020F0502020204030203" pitchFamily="34" charset="0"/>
                <a:ea typeface="Lato Medium" panose="020F0502020204030203" pitchFamily="34" charset="0"/>
                <a:cs typeface="Lato Medium" panose="020F0502020204030203" pitchFamily="34" charset="0"/>
              </a:rPr>
            </a:br>
            <a:r>
              <a:rPr lang="en-US" sz="1600" dirty="0">
                <a:latin typeface="Lato Medium" panose="020F0502020204030203" pitchFamily="34" charset="0"/>
                <a:ea typeface="Lato Medium" panose="020F0502020204030203" pitchFamily="34" charset="0"/>
                <a:cs typeface="Lato Medium" panose="020F0502020204030203" pitchFamily="34" charset="0"/>
              </a:rPr>
              <a:t>H2H_LoRA2 : </a:t>
            </a:r>
            <a:r>
              <a:rPr lang="en-US" sz="1600" b="0" kern="1200" dirty="0" err="1">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mistralai</a:t>
            </a:r>
            <a:r>
              <a:rPr lang="en-US" sz="1600" b="0" kern="1200" dirty="0">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/Mistral-7B-v0.1</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spTree>
    <p:extLst>
      <p:ext uri="{BB962C8B-B14F-4D97-AF65-F5344CB8AC3E}">
        <p14:creationId xmlns:p14="http://schemas.microsoft.com/office/powerpoint/2010/main" val="176916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13</a:t>
            </a:r>
          </a:p>
        </p:txBody>
      </p:sp>
      <p:sp>
        <p:nvSpPr>
          <p:cNvPr id="5" name="TextBox 4">
            <a:extLst>
              <a:ext uri="{FF2B5EF4-FFF2-40B4-BE49-F238E27FC236}">
                <a16:creationId xmlns:a16="http://schemas.microsoft.com/office/drawing/2014/main" id="{63E73051-676F-B694-372B-E215FF937261}"/>
              </a:ext>
            </a:extLst>
          </p:cNvPr>
          <p:cNvSpPr txBox="1"/>
          <p:nvPr/>
        </p:nvSpPr>
        <p:spPr>
          <a:xfrm>
            <a:off x="296565" y="3529914"/>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A-RICD NIA (Non-Identical Adapter)</a:t>
            </a:r>
          </a:p>
        </p:txBody>
      </p:sp>
      <p:graphicFrame>
        <p:nvGraphicFramePr>
          <p:cNvPr id="6" name="Table 5">
            <a:extLst>
              <a:ext uri="{FF2B5EF4-FFF2-40B4-BE49-F238E27FC236}">
                <a16:creationId xmlns:a16="http://schemas.microsoft.com/office/drawing/2014/main" id="{2328CF06-CF6A-04F3-C706-87936D6B5540}"/>
              </a:ext>
            </a:extLst>
          </p:cNvPr>
          <p:cNvGraphicFramePr>
            <a:graphicFrameLocks noGrp="1"/>
          </p:cNvGraphicFramePr>
          <p:nvPr>
            <p:extLst>
              <p:ext uri="{D42A27DB-BD31-4B8C-83A1-F6EECF244321}">
                <p14:modId xmlns:p14="http://schemas.microsoft.com/office/powerpoint/2010/main" val="511018639"/>
              </p:ext>
            </p:extLst>
          </p:nvPr>
        </p:nvGraphicFramePr>
        <p:xfrm>
          <a:off x="2032000" y="4974682"/>
          <a:ext cx="8128000" cy="1112520"/>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1518886224"/>
                    </a:ext>
                  </a:extLst>
                </a:gridCol>
                <a:gridCol w="4064000">
                  <a:extLst>
                    <a:ext uri="{9D8B030D-6E8A-4147-A177-3AD203B41FA5}">
                      <a16:colId xmlns:a16="http://schemas.microsoft.com/office/drawing/2014/main" val="1234777731"/>
                    </a:ext>
                  </a:extLst>
                </a:gridCol>
              </a:tblGrid>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Expert LLM Setup</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Amateur LLM Setup</a:t>
                      </a:r>
                    </a:p>
                  </a:txBody>
                  <a:tcPr/>
                </a:tc>
                <a:extLst>
                  <a:ext uri="{0D108BD9-81ED-4DB2-BD59-A6C34878D82A}">
                    <a16:rowId xmlns:a16="http://schemas.microsoft.com/office/drawing/2014/main" val="1171558795"/>
                  </a:ext>
                </a:extLst>
              </a:tr>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meta-llama/Llama-2-7b-chat</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NIA_LoRA1 (enabled)</a:t>
                      </a:r>
                    </a:p>
                  </a:txBody>
                  <a:tcPr/>
                </a:tc>
                <a:extLst>
                  <a:ext uri="{0D108BD9-81ED-4DB2-BD59-A6C34878D82A}">
                    <a16:rowId xmlns:a16="http://schemas.microsoft.com/office/drawing/2014/main" val="530486578"/>
                  </a:ext>
                </a:extLst>
              </a:tr>
              <a:tr h="370840">
                <a:tc>
                  <a:txBody>
                    <a:bodyPr/>
                    <a:lstStyle/>
                    <a:p>
                      <a:pPr algn="ctr"/>
                      <a:r>
                        <a:rPr lang="en-US" sz="1600" dirty="0" err="1">
                          <a:latin typeface="Lato Medium" panose="020F0502020204030203" pitchFamily="34" charset="0"/>
                          <a:ea typeface="Lato Medium" panose="020F0502020204030203" pitchFamily="34" charset="0"/>
                          <a:cs typeface="Lato Medium" panose="020F0502020204030203" pitchFamily="34" charset="0"/>
                        </a:rPr>
                        <a:t>mistralai</a:t>
                      </a:r>
                      <a:r>
                        <a:rPr lang="en-US" sz="1600" dirty="0">
                          <a:latin typeface="Lato Medium" panose="020F0502020204030203" pitchFamily="34" charset="0"/>
                          <a:ea typeface="Lato Medium" panose="020F0502020204030203" pitchFamily="34" charset="0"/>
                          <a:cs typeface="Lato Medium" panose="020F0502020204030203" pitchFamily="34" charset="0"/>
                        </a:rPr>
                        <a:t>/Mistral-7B-Instruct-v0.1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Lato Medium" panose="020F0502020204030203" pitchFamily="34" charset="0"/>
                          <a:ea typeface="Lato Medium" panose="020F0502020204030203" pitchFamily="34" charset="0"/>
                          <a:cs typeface="Lato Medium" panose="020F0502020204030203" pitchFamily="34" charset="0"/>
                        </a:rPr>
                        <a:t>NIA_LoRA2 (enabled)</a:t>
                      </a:r>
                      <a:endParaRPr lang="en-US" sz="1600" b="0" kern="1200" dirty="0">
                        <a:solidFill>
                          <a:schemeClr val="dk1"/>
                        </a:solidFill>
                        <a:effectLst/>
                        <a:latin typeface="+mn-lt"/>
                        <a:ea typeface="+mn-ea"/>
                        <a:cs typeface="+mn-cs"/>
                      </a:endParaRPr>
                    </a:p>
                  </a:txBody>
                  <a:tcPr/>
                </a:tc>
                <a:extLst>
                  <a:ext uri="{0D108BD9-81ED-4DB2-BD59-A6C34878D82A}">
                    <a16:rowId xmlns:a16="http://schemas.microsoft.com/office/drawing/2014/main" val="125171657"/>
                  </a:ext>
                </a:extLst>
              </a:tr>
            </a:tbl>
          </a:graphicData>
        </a:graphic>
      </p:graphicFrame>
      <p:sp>
        <p:nvSpPr>
          <p:cNvPr id="7" name="TextBox 6">
            <a:extLst>
              <a:ext uri="{FF2B5EF4-FFF2-40B4-BE49-F238E27FC236}">
                <a16:creationId xmlns:a16="http://schemas.microsoft.com/office/drawing/2014/main" id="{F49793A5-D615-BD16-6F67-CDCAA55D5F1A}"/>
              </a:ext>
            </a:extLst>
          </p:cNvPr>
          <p:cNvSpPr txBox="1"/>
          <p:nvPr/>
        </p:nvSpPr>
        <p:spPr>
          <a:xfrm>
            <a:off x="2032000" y="4119072"/>
            <a:ext cx="6104238" cy="584775"/>
          </a:xfrm>
          <a:prstGeom prst="rect">
            <a:avLst/>
          </a:prstGeom>
          <a:noFill/>
        </p:spPr>
        <p:txBody>
          <a:bodyPr wrap="square">
            <a:spAutoFit/>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NIA_LoRA1 : meta-llama/Llama-2-7b-hf</a:t>
            </a:r>
            <a:br>
              <a:rPr lang="en-US" sz="1600" dirty="0">
                <a:latin typeface="Lato Medium" panose="020F0502020204030203" pitchFamily="34" charset="0"/>
                <a:ea typeface="Lato Medium" panose="020F0502020204030203" pitchFamily="34" charset="0"/>
                <a:cs typeface="Lato Medium" panose="020F0502020204030203" pitchFamily="34" charset="0"/>
              </a:rPr>
            </a:br>
            <a:r>
              <a:rPr lang="en-US" sz="1600" dirty="0">
                <a:latin typeface="Lato Medium" panose="020F0502020204030203" pitchFamily="34" charset="0"/>
                <a:ea typeface="Lato Medium" panose="020F0502020204030203" pitchFamily="34" charset="0"/>
                <a:cs typeface="Lato Medium" panose="020F0502020204030203" pitchFamily="34" charset="0"/>
              </a:rPr>
              <a:t>NIA_LoRA2 : </a:t>
            </a:r>
            <a:r>
              <a:rPr lang="en-US" sz="1600" b="0" kern="1200" dirty="0" err="1">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mistralai</a:t>
            </a:r>
            <a:r>
              <a:rPr lang="en-US" sz="1600" b="0" kern="1200" dirty="0">
                <a:solidFill>
                  <a:schemeClr val="dk1"/>
                </a:solidFill>
                <a:effectLst/>
                <a:latin typeface="Lato Medium" panose="020F0502020204030203" pitchFamily="34" charset="0"/>
                <a:ea typeface="Lato Medium" panose="020F0502020204030203" pitchFamily="34" charset="0"/>
                <a:cs typeface="Lato Medium" panose="020F0502020204030203" pitchFamily="34" charset="0"/>
              </a:rPr>
              <a:t>/Mistral-7B-v0.1</a:t>
            </a:r>
            <a:endParaRPr lang="en-US" sz="1600" dirty="0">
              <a:latin typeface="Lato Medium" panose="020F0502020204030203" pitchFamily="34" charset="0"/>
              <a:ea typeface="Lato Medium" panose="020F0502020204030203" pitchFamily="34" charset="0"/>
              <a:cs typeface="Lato Medium" panose="020F0502020204030203" pitchFamily="34" charset="0"/>
            </a:endParaRPr>
          </a:p>
        </p:txBody>
      </p:sp>
      <p:sp>
        <p:nvSpPr>
          <p:cNvPr id="8" name="Title 1">
            <a:extLst>
              <a:ext uri="{FF2B5EF4-FFF2-40B4-BE49-F238E27FC236}">
                <a16:creationId xmlns:a16="http://schemas.microsoft.com/office/drawing/2014/main" id="{DC2249BE-5A69-1EF1-E094-2C4E1D8289C3}"/>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endPar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C3636E50-1917-C8F4-AB59-45A8989641F5}"/>
              </a:ext>
            </a:extLst>
          </p:cNvPr>
          <p:cNvSpPr txBox="1"/>
          <p:nvPr/>
        </p:nvSpPr>
        <p:spPr>
          <a:xfrm>
            <a:off x="296565" y="316354"/>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A-RICD IA (Identical Adapter)</a:t>
            </a:r>
          </a:p>
        </p:txBody>
      </p:sp>
      <p:graphicFrame>
        <p:nvGraphicFramePr>
          <p:cNvPr id="12" name="Table 11">
            <a:extLst>
              <a:ext uri="{FF2B5EF4-FFF2-40B4-BE49-F238E27FC236}">
                <a16:creationId xmlns:a16="http://schemas.microsoft.com/office/drawing/2014/main" id="{814406B6-3891-3D9E-870D-BF0618496661}"/>
              </a:ext>
            </a:extLst>
          </p:cNvPr>
          <p:cNvGraphicFramePr>
            <a:graphicFrameLocks noGrp="1"/>
          </p:cNvGraphicFramePr>
          <p:nvPr>
            <p:extLst>
              <p:ext uri="{D42A27DB-BD31-4B8C-83A1-F6EECF244321}">
                <p14:modId xmlns:p14="http://schemas.microsoft.com/office/powerpoint/2010/main" val="973353131"/>
              </p:ext>
            </p:extLst>
          </p:nvPr>
        </p:nvGraphicFramePr>
        <p:xfrm>
          <a:off x="2032000" y="1761122"/>
          <a:ext cx="8128000" cy="1112520"/>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1518886224"/>
                    </a:ext>
                  </a:extLst>
                </a:gridCol>
                <a:gridCol w="4064000">
                  <a:extLst>
                    <a:ext uri="{9D8B030D-6E8A-4147-A177-3AD203B41FA5}">
                      <a16:colId xmlns:a16="http://schemas.microsoft.com/office/drawing/2014/main" val="1234777731"/>
                    </a:ext>
                  </a:extLst>
                </a:gridCol>
              </a:tblGrid>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Expert LLM Setup</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Amateur LLM Setup</a:t>
                      </a:r>
                    </a:p>
                  </a:txBody>
                  <a:tcPr/>
                </a:tc>
                <a:extLst>
                  <a:ext uri="{0D108BD9-81ED-4DB2-BD59-A6C34878D82A}">
                    <a16:rowId xmlns:a16="http://schemas.microsoft.com/office/drawing/2014/main" val="1171558795"/>
                  </a:ext>
                </a:extLst>
              </a:tr>
              <a:tr h="370840">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meta-llama/Llama-2-7b-chat</a:t>
                      </a:r>
                    </a:p>
                  </a:txBody>
                  <a:tcPr/>
                </a:tc>
                <a:tc>
                  <a:txBody>
                    <a:bodyPr/>
                    <a:lstStyle/>
                    <a:p>
                      <a:pPr algn="ctr"/>
                      <a:r>
                        <a:rPr lang="en-US" sz="1600" dirty="0">
                          <a:latin typeface="Lato Medium" panose="020F0502020204030203" pitchFamily="34" charset="0"/>
                          <a:ea typeface="Lato Medium" panose="020F0502020204030203" pitchFamily="34" charset="0"/>
                          <a:cs typeface="Lato Medium" panose="020F0502020204030203" pitchFamily="34" charset="0"/>
                        </a:rPr>
                        <a:t>IA_LoRA1 (enabled)</a:t>
                      </a:r>
                    </a:p>
                  </a:txBody>
                  <a:tcPr/>
                </a:tc>
                <a:extLst>
                  <a:ext uri="{0D108BD9-81ED-4DB2-BD59-A6C34878D82A}">
                    <a16:rowId xmlns:a16="http://schemas.microsoft.com/office/drawing/2014/main" val="530486578"/>
                  </a:ext>
                </a:extLst>
              </a:tr>
              <a:tr h="370840">
                <a:tc>
                  <a:txBody>
                    <a:bodyPr/>
                    <a:lstStyle/>
                    <a:p>
                      <a:pPr algn="ctr"/>
                      <a:r>
                        <a:rPr lang="en-US" sz="1600" dirty="0" err="1">
                          <a:latin typeface="Lato Medium" panose="020F0502020204030203" pitchFamily="34" charset="0"/>
                          <a:ea typeface="Lato Medium" panose="020F0502020204030203" pitchFamily="34" charset="0"/>
                          <a:cs typeface="Lato Medium" panose="020F0502020204030203" pitchFamily="34" charset="0"/>
                        </a:rPr>
                        <a:t>mistralai</a:t>
                      </a:r>
                      <a:r>
                        <a:rPr lang="en-US" sz="1600" dirty="0">
                          <a:latin typeface="Lato Medium" panose="020F0502020204030203" pitchFamily="34" charset="0"/>
                          <a:ea typeface="Lato Medium" panose="020F0502020204030203" pitchFamily="34" charset="0"/>
                          <a:cs typeface="Lato Medium" panose="020F0502020204030203" pitchFamily="34" charset="0"/>
                        </a:rPr>
                        <a:t>/Mistral-7B-Instruct-v0.1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Lato Medium" panose="020F0502020204030203" pitchFamily="34" charset="0"/>
                          <a:ea typeface="Lato Medium" panose="020F0502020204030203" pitchFamily="34" charset="0"/>
                          <a:cs typeface="Lato Medium" panose="020F0502020204030203" pitchFamily="34" charset="0"/>
                        </a:rPr>
                        <a:t>IA_LoRA2 (enabled)</a:t>
                      </a:r>
                    </a:p>
                  </a:txBody>
                  <a:tcPr/>
                </a:tc>
                <a:extLst>
                  <a:ext uri="{0D108BD9-81ED-4DB2-BD59-A6C34878D82A}">
                    <a16:rowId xmlns:a16="http://schemas.microsoft.com/office/drawing/2014/main" val="125171657"/>
                  </a:ext>
                </a:extLst>
              </a:tr>
            </a:tbl>
          </a:graphicData>
        </a:graphic>
      </p:graphicFrame>
      <p:sp>
        <p:nvSpPr>
          <p:cNvPr id="13" name="TextBox 12">
            <a:extLst>
              <a:ext uri="{FF2B5EF4-FFF2-40B4-BE49-F238E27FC236}">
                <a16:creationId xmlns:a16="http://schemas.microsoft.com/office/drawing/2014/main" id="{69029A1C-0DDF-9D3A-C40F-DCC29C57413F}"/>
              </a:ext>
            </a:extLst>
          </p:cNvPr>
          <p:cNvSpPr txBox="1"/>
          <p:nvPr/>
        </p:nvSpPr>
        <p:spPr>
          <a:xfrm>
            <a:off x="2032000" y="905512"/>
            <a:ext cx="6104238" cy="584775"/>
          </a:xfrm>
          <a:prstGeom prst="rect">
            <a:avLst/>
          </a:prstGeom>
          <a:noFill/>
        </p:spPr>
        <p:txBody>
          <a:bodyPr wrap="square">
            <a:spAutoFit/>
          </a:bodyPr>
          <a:lstStyle/>
          <a:p>
            <a:r>
              <a:rPr lang="en-US" sz="1600" dirty="0">
                <a:latin typeface="Lato Medium" panose="020F0502020204030203" pitchFamily="34" charset="0"/>
                <a:ea typeface="Lato Medium" panose="020F0502020204030203" pitchFamily="34" charset="0"/>
                <a:cs typeface="Lato Medium" panose="020F0502020204030203" pitchFamily="34" charset="0"/>
              </a:rPr>
              <a:t>IA_LoRA1 : meta-llama/Llama-2-7b-chat</a:t>
            </a:r>
            <a:br>
              <a:rPr lang="en-US" sz="1600" dirty="0">
                <a:latin typeface="Lato Medium" panose="020F0502020204030203" pitchFamily="34" charset="0"/>
                <a:ea typeface="Lato Medium" panose="020F0502020204030203" pitchFamily="34" charset="0"/>
                <a:cs typeface="Lato Medium" panose="020F0502020204030203" pitchFamily="34" charset="0"/>
              </a:rPr>
            </a:br>
            <a:r>
              <a:rPr lang="en-US" sz="1600" dirty="0">
                <a:latin typeface="Lato Medium" panose="020F0502020204030203" pitchFamily="34" charset="0"/>
                <a:ea typeface="Lato Medium" panose="020F0502020204030203" pitchFamily="34" charset="0"/>
                <a:cs typeface="Lato Medium" panose="020F0502020204030203" pitchFamily="34" charset="0"/>
              </a:rPr>
              <a:t>IA_LoRA2 :</a:t>
            </a:r>
            <a:r>
              <a:rPr lang="en-US" sz="1600" dirty="0">
                <a:solidFill>
                  <a:schemeClr val="dk1"/>
                </a:solidFill>
                <a:latin typeface="Lato Medium" panose="020F0502020204030203" pitchFamily="34" charset="0"/>
                <a:ea typeface="Lato Medium" panose="020F0502020204030203" pitchFamily="34" charset="0"/>
                <a:cs typeface="Lato Medium" panose="020F0502020204030203" pitchFamily="34" charset="0"/>
              </a:rPr>
              <a:t> </a:t>
            </a:r>
            <a:r>
              <a:rPr lang="en-US" sz="1600" dirty="0" err="1">
                <a:latin typeface="Lato Medium" panose="020F0502020204030203" pitchFamily="34" charset="0"/>
                <a:ea typeface="Lato Medium" panose="020F0502020204030203" pitchFamily="34" charset="0"/>
                <a:cs typeface="Lato Medium" panose="020F0502020204030203" pitchFamily="34" charset="0"/>
              </a:rPr>
              <a:t>mistralai</a:t>
            </a:r>
            <a:r>
              <a:rPr lang="en-US" sz="1600" dirty="0">
                <a:latin typeface="Lato Medium" panose="020F0502020204030203" pitchFamily="34" charset="0"/>
                <a:ea typeface="Lato Medium" panose="020F0502020204030203" pitchFamily="34" charset="0"/>
                <a:cs typeface="Lato Medium" panose="020F0502020204030203" pitchFamily="34" charset="0"/>
              </a:rPr>
              <a:t>/Mistral-7B-Instruct-v0.1</a:t>
            </a:r>
          </a:p>
        </p:txBody>
      </p:sp>
    </p:spTree>
    <p:extLst>
      <p:ext uri="{BB962C8B-B14F-4D97-AF65-F5344CB8AC3E}">
        <p14:creationId xmlns:p14="http://schemas.microsoft.com/office/powerpoint/2010/main" val="46403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B88BC5-9975-094D-883C-B29133B71953}"/>
              </a:ext>
            </a:extLst>
          </p:cNvPr>
          <p:cNvSpPr txBox="1"/>
          <p:nvPr/>
        </p:nvSpPr>
        <p:spPr>
          <a:xfrm>
            <a:off x="172998" y="3053675"/>
            <a:ext cx="5692345"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5: </a:t>
            </a:r>
            <a:r>
              <a:rPr lang="en-US" sz="1000" dirty="0">
                <a:latin typeface="Lato Medium" panose="020F0502020204030203" pitchFamily="34" charset="0"/>
                <a:ea typeface="Lato Medium" panose="020F0502020204030203" pitchFamily="34" charset="0"/>
                <a:cs typeface="Lato Medium" panose="020F0502020204030203" pitchFamily="34" charset="0"/>
              </a:rPr>
              <a:t>(A)</a:t>
            </a:r>
            <a:r>
              <a:rPr lang="en-US" sz="1000" b="1" dirty="0">
                <a:latin typeface="Lato Medium" panose="020F0502020204030203" pitchFamily="34" charset="0"/>
                <a:ea typeface="Lato Medium" panose="020F0502020204030203" pitchFamily="34" charset="0"/>
                <a:cs typeface="Lato Medium" panose="020F0502020204030203" pitchFamily="34" charset="0"/>
              </a:rPr>
              <a:t> </a:t>
            </a:r>
            <a:r>
              <a:rPr lang="en-US" sz="1000" dirty="0">
                <a:latin typeface="Lato Medium" panose="020F0502020204030203" pitchFamily="34" charset="0"/>
                <a:ea typeface="Lato Medium" panose="020F0502020204030203" pitchFamily="34" charset="0"/>
                <a:cs typeface="Lato Medium" panose="020F0502020204030203" pitchFamily="34" charset="0"/>
              </a:rPr>
              <a:t>Training loss convergence and (B) Learning rate schedule of LLaMA-2-7B during the SFT phase on QA split, reaching a final cross-entropy loss of 0.595</a:t>
            </a:r>
          </a:p>
        </p:txBody>
      </p:sp>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14</a:t>
            </a:r>
          </a:p>
        </p:txBody>
      </p:sp>
      <p:pic>
        <p:nvPicPr>
          <p:cNvPr id="7" name="Picture 6">
            <a:extLst>
              <a:ext uri="{FF2B5EF4-FFF2-40B4-BE49-F238E27FC236}">
                <a16:creationId xmlns:a16="http://schemas.microsoft.com/office/drawing/2014/main" id="{B098F37B-4013-838B-5249-B2CA02A19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98" y="759282"/>
            <a:ext cx="5692346" cy="2315188"/>
          </a:xfrm>
          <a:prstGeom prst="rect">
            <a:avLst/>
          </a:prstGeom>
        </p:spPr>
      </p:pic>
      <p:pic>
        <p:nvPicPr>
          <p:cNvPr id="10" name="Picture 9">
            <a:extLst>
              <a:ext uri="{FF2B5EF4-FFF2-40B4-BE49-F238E27FC236}">
                <a16:creationId xmlns:a16="http://schemas.microsoft.com/office/drawing/2014/main" id="{8C1A427D-86F1-AC82-B105-C105430E4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6656" y="759283"/>
            <a:ext cx="5692346" cy="2315187"/>
          </a:xfrm>
          <a:prstGeom prst="rect">
            <a:avLst/>
          </a:prstGeom>
        </p:spPr>
      </p:pic>
      <p:sp>
        <p:nvSpPr>
          <p:cNvPr id="12" name="TextBox 11">
            <a:extLst>
              <a:ext uri="{FF2B5EF4-FFF2-40B4-BE49-F238E27FC236}">
                <a16:creationId xmlns:a16="http://schemas.microsoft.com/office/drawing/2014/main" id="{0A46C4CD-7A3D-2D00-9AEF-92D2400BA4E6}"/>
              </a:ext>
            </a:extLst>
          </p:cNvPr>
          <p:cNvSpPr txBox="1"/>
          <p:nvPr/>
        </p:nvSpPr>
        <p:spPr>
          <a:xfrm>
            <a:off x="6326653" y="3074470"/>
            <a:ext cx="5692347"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6: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Mistral-7B-v0.1 during the SFT phase on QA split, reaching a final cross-entropy loss of 0.534.</a:t>
            </a:r>
          </a:p>
        </p:txBody>
      </p:sp>
      <p:pic>
        <p:nvPicPr>
          <p:cNvPr id="14" name="Picture 13">
            <a:extLst>
              <a:ext uri="{FF2B5EF4-FFF2-40B4-BE49-F238E27FC236}">
                <a16:creationId xmlns:a16="http://schemas.microsoft.com/office/drawing/2014/main" id="{EF32ABD4-F854-7CB6-9762-5034B1FF77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997" y="3676432"/>
            <a:ext cx="5692346" cy="2315187"/>
          </a:xfrm>
          <a:prstGeom prst="rect">
            <a:avLst/>
          </a:prstGeom>
        </p:spPr>
      </p:pic>
      <p:pic>
        <p:nvPicPr>
          <p:cNvPr id="16" name="Picture 15">
            <a:extLst>
              <a:ext uri="{FF2B5EF4-FFF2-40B4-BE49-F238E27FC236}">
                <a16:creationId xmlns:a16="http://schemas.microsoft.com/office/drawing/2014/main" id="{C949AAD5-EF11-2599-7E9A-65498E40F7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6654" y="3616190"/>
            <a:ext cx="5692345" cy="2315187"/>
          </a:xfrm>
          <a:prstGeom prst="rect">
            <a:avLst/>
          </a:prstGeom>
        </p:spPr>
      </p:pic>
      <p:sp>
        <p:nvSpPr>
          <p:cNvPr id="17" name="TextBox 16">
            <a:extLst>
              <a:ext uri="{FF2B5EF4-FFF2-40B4-BE49-F238E27FC236}">
                <a16:creationId xmlns:a16="http://schemas.microsoft.com/office/drawing/2014/main" id="{63EBC210-51CF-B4CD-1630-10573544D8AB}"/>
              </a:ext>
            </a:extLst>
          </p:cNvPr>
          <p:cNvSpPr txBox="1"/>
          <p:nvPr/>
        </p:nvSpPr>
        <p:spPr>
          <a:xfrm>
            <a:off x="172998" y="5991619"/>
            <a:ext cx="5692345"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7: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LLaMA-2-7B-Chat during the SFT phase on QA split, reaching a final cross-entropy loss of 0.627.</a:t>
            </a:r>
          </a:p>
        </p:txBody>
      </p:sp>
      <p:sp>
        <p:nvSpPr>
          <p:cNvPr id="18" name="TextBox 17">
            <a:extLst>
              <a:ext uri="{FF2B5EF4-FFF2-40B4-BE49-F238E27FC236}">
                <a16:creationId xmlns:a16="http://schemas.microsoft.com/office/drawing/2014/main" id="{2D504709-2D53-DE5D-52A7-FB6539CAF02B}"/>
              </a:ext>
            </a:extLst>
          </p:cNvPr>
          <p:cNvSpPr txBox="1"/>
          <p:nvPr/>
        </p:nvSpPr>
        <p:spPr>
          <a:xfrm>
            <a:off x="6326652" y="5991619"/>
            <a:ext cx="5692347"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8: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Mistral-7B-Instruct-v0.1 during the SFT phase on QA split, reaching a final cross-entropy loss of 0.556.</a:t>
            </a:r>
          </a:p>
        </p:txBody>
      </p:sp>
      <p:sp>
        <p:nvSpPr>
          <p:cNvPr id="20" name="TextBox 19">
            <a:extLst>
              <a:ext uri="{FF2B5EF4-FFF2-40B4-BE49-F238E27FC236}">
                <a16:creationId xmlns:a16="http://schemas.microsoft.com/office/drawing/2014/main" id="{8513E0CF-4625-04D0-937B-D329B28B166D}"/>
              </a:ext>
            </a:extLst>
          </p:cNvPr>
          <p:cNvSpPr txBox="1"/>
          <p:nvPr/>
        </p:nvSpPr>
        <p:spPr>
          <a:xfrm>
            <a:off x="172997" y="352393"/>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QA Adapters</a:t>
            </a:r>
          </a:p>
        </p:txBody>
      </p:sp>
      <p:sp>
        <p:nvSpPr>
          <p:cNvPr id="8" name="Title 1">
            <a:extLst>
              <a:ext uri="{FF2B5EF4-FFF2-40B4-BE49-F238E27FC236}">
                <a16:creationId xmlns:a16="http://schemas.microsoft.com/office/drawing/2014/main" id="{1DC3CE59-FE8A-E1CE-2DD2-E5EEDD11C2F2}"/>
              </a:ext>
            </a:extLst>
          </p:cNvPr>
          <p:cNvSpPr>
            <a:spLocks noGrp="1"/>
          </p:cNvSpPr>
          <p:nvPr>
            <p:ph type="ctrTitle"/>
          </p:nvPr>
        </p:nvSpPr>
        <p:spPr>
          <a:xfrm>
            <a:off x="2874998" y="77223"/>
            <a:ext cx="9144000" cy="239131"/>
          </a:xfrm>
        </p:spPr>
        <p:txBody>
          <a:bodyPr>
            <a:noAutofit/>
          </a:body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p>
        </p:txBody>
      </p:sp>
    </p:spTree>
    <p:extLst>
      <p:ext uri="{BB962C8B-B14F-4D97-AF65-F5344CB8AC3E}">
        <p14:creationId xmlns:p14="http://schemas.microsoft.com/office/powerpoint/2010/main" val="3089699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2874998" y="77223"/>
            <a:ext cx="9144000" cy="239131"/>
          </a:xfrm>
        </p:spPr>
        <p:txBody>
          <a:bodyPr>
            <a:noAutofit/>
          </a:body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p>
        </p:txBody>
      </p:sp>
      <p:sp>
        <p:nvSpPr>
          <p:cNvPr id="6" name="TextBox 5">
            <a:extLst>
              <a:ext uri="{FF2B5EF4-FFF2-40B4-BE49-F238E27FC236}">
                <a16:creationId xmlns:a16="http://schemas.microsoft.com/office/drawing/2014/main" id="{84B88BC5-9975-094D-883C-B29133B71953}"/>
              </a:ext>
            </a:extLst>
          </p:cNvPr>
          <p:cNvSpPr txBox="1"/>
          <p:nvPr/>
        </p:nvSpPr>
        <p:spPr>
          <a:xfrm>
            <a:off x="172998" y="2897153"/>
            <a:ext cx="5692345"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9: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LLaMA-2-7B during the SFT phase on Dialogue split, reaching a final cross-entropy loss of 0.650.</a:t>
            </a:r>
          </a:p>
        </p:txBody>
      </p:sp>
      <p:sp>
        <p:nvSpPr>
          <p:cNvPr id="12" name="TextBox 11">
            <a:extLst>
              <a:ext uri="{FF2B5EF4-FFF2-40B4-BE49-F238E27FC236}">
                <a16:creationId xmlns:a16="http://schemas.microsoft.com/office/drawing/2014/main" id="{0A46C4CD-7A3D-2D00-9AEF-92D2400BA4E6}"/>
              </a:ext>
            </a:extLst>
          </p:cNvPr>
          <p:cNvSpPr txBox="1"/>
          <p:nvPr/>
        </p:nvSpPr>
        <p:spPr>
          <a:xfrm>
            <a:off x="6096001" y="2917948"/>
            <a:ext cx="5923000"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10: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LLaMA-2-7B-Chat during the SFT phase on Dialogue split, reaching a final cross-entropy loss of 0.662.</a:t>
            </a:r>
          </a:p>
        </p:txBody>
      </p:sp>
      <p:sp>
        <p:nvSpPr>
          <p:cNvPr id="17" name="TextBox 16">
            <a:extLst>
              <a:ext uri="{FF2B5EF4-FFF2-40B4-BE49-F238E27FC236}">
                <a16:creationId xmlns:a16="http://schemas.microsoft.com/office/drawing/2014/main" id="{63EBC210-51CF-B4CD-1630-10573544D8AB}"/>
              </a:ext>
            </a:extLst>
          </p:cNvPr>
          <p:cNvSpPr txBox="1"/>
          <p:nvPr/>
        </p:nvSpPr>
        <p:spPr>
          <a:xfrm>
            <a:off x="172997" y="6170367"/>
            <a:ext cx="5692345"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11: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LLaMA-2-7B during the SFT phase on Summarization split, reaching a final cross-entropy loss of 1.307.</a:t>
            </a:r>
          </a:p>
        </p:txBody>
      </p:sp>
      <p:sp>
        <p:nvSpPr>
          <p:cNvPr id="18" name="TextBox 17">
            <a:extLst>
              <a:ext uri="{FF2B5EF4-FFF2-40B4-BE49-F238E27FC236}">
                <a16:creationId xmlns:a16="http://schemas.microsoft.com/office/drawing/2014/main" id="{2D504709-2D53-DE5D-52A7-FB6539CAF02B}"/>
              </a:ext>
            </a:extLst>
          </p:cNvPr>
          <p:cNvSpPr txBox="1"/>
          <p:nvPr/>
        </p:nvSpPr>
        <p:spPr>
          <a:xfrm>
            <a:off x="6326652" y="6181697"/>
            <a:ext cx="5692345"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12: </a:t>
            </a:r>
            <a:r>
              <a:rPr lang="en-US" sz="1000" dirty="0">
                <a:latin typeface="Lato Medium" panose="020F0502020204030203" pitchFamily="34" charset="0"/>
                <a:ea typeface="Lato Medium" panose="020F0502020204030203" pitchFamily="34" charset="0"/>
                <a:cs typeface="Lato Medium" panose="020F0502020204030203" pitchFamily="34" charset="0"/>
              </a:rPr>
              <a:t>(A) Training loss convergence and (B) Learning rate schedule of LLaMA-2-7B-Chat during the SFT phase on Summarization split, reaching a final cross-entropy loss of 1.342.</a:t>
            </a:r>
          </a:p>
        </p:txBody>
      </p:sp>
      <p:sp>
        <p:nvSpPr>
          <p:cNvPr id="20" name="TextBox 19">
            <a:extLst>
              <a:ext uri="{FF2B5EF4-FFF2-40B4-BE49-F238E27FC236}">
                <a16:creationId xmlns:a16="http://schemas.microsoft.com/office/drawing/2014/main" id="{8513E0CF-4625-04D0-937B-D329B28B166D}"/>
              </a:ext>
            </a:extLst>
          </p:cNvPr>
          <p:cNvSpPr txBox="1"/>
          <p:nvPr/>
        </p:nvSpPr>
        <p:spPr>
          <a:xfrm>
            <a:off x="172997" y="195871"/>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Dialogue Adapters</a:t>
            </a:r>
          </a:p>
        </p:txBody>
      </p:sp>
      <p:pic>
        <p:nvPicPr>
          <p:cNvPr id="5" name="Picture 4">
            <a:extLst>
              <a:ext uri="{FF2B5EF4-FFF2-40B4-BE49-F238E27FC236}">
                <a16:creationId xmlns:a16="http://schemas.microsoft.com/office/drawing/2014/main" id="{64F77F43-AFF2-F7A6-851C-BC52456EA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96" y="602760"/>
            <a:ext cx="5692347" cy="2315188"/>
          </a:xfrm>
          <a:prstGeom prst="rect">
            <a:avLst/>
          </a:prstGeom>
        </p:spPr>
      </p:pic>
      <p:pic>
        <p:nvPicPr>
          <p:cNvPr id="9" name="Picture 8">
            <a:extLst>
              <a:ext uri="{FF2B5EF4-FFF2-40B4-BE49-F238E27FC236}">
                <a16:creationId xmlns:a16="http://schemas.microsoft.com/office/drawing/2014/main" id="{5CDF3C7A-A918-62B9-EBEB-A5612898B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534426"/>
            <a:ext cx="5922998" cy="2408998"/>
          </a:xfrm>
          <a:prstGeom prst="rect">
            <a:avLst/>
          </a:prstGeom>
        </p:spPr>
      </p:pic>
      <p:sp>
        <p:nvSpPr>
          <p:cNvPr id="11" name="TextBox 10">
            <a:extLst>
              <a:ext uri="{FF2B5EF4-FFF2-40B4-BE49-F238E27FC236}">
                <a16:creationId xmlns:a16="http://schemas.microsoft.com/office/drawing/2014/main" id="{BAAE7DB3-9B08-9699-CC43-FFCDFBC0F565}"/>
              </a:ext>
            </a:extLst>
          </p:cNvPr>
          <p:cNvSpPr txBox="1"/>
          <p:nvPr/>
        </p:nvSpPr>
        <p:spPr>
          <a:xfrm>
            <a:off x="172996" y="3418859"/>
            <a:ext cx="6104238" cy="338554"/>
          </a:xfrm>
          <a:prstGeom prst="rect">
            <a:avLst/>
          </a:prstGeom>
          <a:noFill/>
        </p:spPr>
        <p:txBody>
          <a:bodyPr wrap="square">
            <a:spAutoFit/>
          </a:bodyPr>
          <a:lstStyle/>
          <a:p>
            <a:r>
              <a:rPr lang="en-US" sz="1600" b="1" dirty="0">
                <a:latin typeface="Lato Medium" panose="020F0502020204030203" pitchFamily="34" charset="0"/>
                <a:ea typeface="Lato Medium" panose="020F0502020204030203" pitchFamily="34" charset="0"/>
                <a:cs typeface="Lato Medium" panose="020F0502020204030203" pitchFamily="34" charset="0"/>
              </a:rPr>
              <a:t>Summarization Adapters</a:t>
            </a:r>
          </a:p>
        </p:txBody>
      </p:sp>
      <p:pic>
        <p:nvPicPr>
          <p:cNvPr id="15" name="Picture 14">
            <a:extLst>
              <a:ext uri="{FF2B5EF4-FFF2-40B4-BE49-F238E27FC236}">
                <a16:creationId xmlns:a16="http://schemas.microsoft.com/office/drawing/2014/main" id="{3B499253-E0EF-046E-2A7E-9A8E04EAEC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995" y="3866509"/>
            <a:ext cx="5692347" cy="2315188"/>
          </a:xfrm>
          <a:prstGeom prst="rect">
            <a:avLst/>
          </a:prstGeom>
        </p:spPr>
      </p:pic>
      <p:sp>
        <p:nvSpPr>
          <p:cNvPr id="19" name="Rectangle 18">
            <a:extLst>
              <a:ext uri="{FF2B5EF4-FFF2-40B4-BE49-F238E27FC236}">
                <a16:creationId xmlns:a16="http://schemas.microsoft.com/office/drawing/2014/main" id="{1B25521E-C80A-8C7C-CBB6-0E0D62F66ED3}"/>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15</a:t>
            </a:r>
          </a:p>
        </p:txBody>
      </p:sp>
      <p:pic>
        <p:nvPicPr>
          <p:cNvPr id="22" name="Picture 21">
            <a:extLst>
              <a:ext uri="{FF2B5EF4-FFF2-40B4-BE49-F238E27FC236}">
                <a16:creationId xmlns:a16="http://schemas.microsoft.com/office/drawing/2014/main" id="{F054AA03-DC57-9D49-E894-30145519F9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6652" y="3863290"/>
            <a:ext cx="5692345" cy="2315187"/>
          </a:xfrm>
          <a:prstGeom prst="rect">
            <a:avLst/>
          </a:prstGeom>
        </p:spPr>
      </p:pic>
    </p:spTree>
    <p:extLst>
      <p:ext uri="{BB962C8B-B14F-4D97-AF65-F5344CB8AC3E}">
        <p14:creationId xmlns:p14="http://schemas.microsoft.com/office/powerpoint/2010/main" val="2678108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171CC5B7-22AB-AA81-139F-7E6A851714D5}"/>
              </a:ext>
            </a:extLst>
          </p:cNvPr>
          <p:cNvSpPr txBox="1"/>
          <p:nvPr/>
        </p:nvSpPr>
        <p:spPr>
          <a:xfrm>
            <a:off x="2394031" y="3365159"/>
            <a:ext cx="7413983"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13:</a:t>
            </a:r>
            <a:r>
              <a:rPr lang="en-US" sz="1000" dirty="0">
                <a:latin typeface="Lato Medium" panose="020F0502020204030203" pitchFamily="34" charset="0"/>
                <a:ea typeface="Lato Medium" panose="020F0502020204030203" pitchFamily="34" charset="0"/>
                <a:cs typeface="Lato Medium" panose="020F0502020204030203" pitchFamily="34" charset="0"/>
              </a:rPr>
              <a:t> For 2.59 Alpha upper bound, the highest MC1 score of 57.28 is achieved in A-RICD H2H in LLaMA-2-7B-Chat</a:t>
            </a:r>
          </a:p>
        </p:txBody>
      </p:sp>
      <p:sp>
        <p:nvSpPr>
          <p:cNvPr id="26" name="TextBox 25">
            <a:extLst>
              <a:ext uri="{FF2B5EF4-FFF2-40B4-BE49-F238E27FC236}">
                <a16:creationId xmlns:a16="http://schemas.microsoft.com/office/drawing/2014/main" id="{60B25F92-2CC6-2DBA-0F19-1510F467C7F7}"/>
              </a:ext>
            </a:extLst>
          </p:cNvPr>
          <p:cNvSpPr txBox="1"/>
          <p:nvPr/>
        </p:nvSpPr>
        <p:spPr>
          <a:xfrm>
            <a:off x="2507541" y="6430000"/>
            <a:ext cx="7176917"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14:</a:t>
            </a:r>
            <a:r>
              <a:rPr lang="en-US" sz="1000" dirty="0">
                <a:latin typeface="Lato Medium" panose="020F0502020204030203" pitchFamily="34" charset="0"/>
                <a:ea typeface="Lato Medium" panose="020F0502020204030203" pitchFamily="34" charset="0"/>
                <a:cs typeface="Lato Medium" panose="020F0502020204030203" pitchFamily="34" charset="0"/>
              </a:rPr>
              <a:t> For 1.58 Alpha upper bound, the highest MC1 score of 60.34 is achieved in A-RICD H2H in Mistral-7B-Instruct</a:t>
            </a:r>
          </a:p>
        </p:txBody>
      </p:sp>
      <p:sp>
        <p:nvSpPr>
          <p:cNvPr id="2" name="Rectangle 1">
            <a:extLst>
              <a:ext uri="{FF2B5EF4-FFF2-40B4-BE49-F238E27FC236}">
                <a16:creationId xmlns:a16="http://schemas.microsoft.com/office/drawing/2014/main" id="{34D27790-688E-FE8C-8D01-615755DAD397}"/>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16</a:t>
            </a:r>
          </a:p>
        </p:txBody>
      </p:sp>
      <p:sp>
        <p:nvSpPr>
          <p:cNvPr id="3" name="Title 1">
            <a:extLst>
              <a:ext uri="{FF2B5EF4-FFF2-40B4-BE49-F238E27FC236}">
                <a16:creationId xmlns:a16="http://schemas.microsoft.com/office/drawing/2014/main" id="{CE6EAE7F-6195-3C02-B45F-A404043F5ADD}"/>
              </a:ext>
            </a:extLst>
          </p:cNvPr>
          <p:cNvSpPr>
            <a:spLocks noGrp="1"/>
          </p:cNvSpPr>
          <p:nvPr>
            <p:ph type="ctrTitle"/>
          </p:nvPr>
        </p:nvSpPr>
        <p:spPr>
          <a:xfrm>
            <a:off x="2874998" y="77223"/>
            <a:ext cx="9144000" cy="239131"/>
          </a:xfrm>
        </p:spPr>
        <p:txBody>
          <a:bodyPr>
            <a:noAutofit/>
          </a:body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p>
        </p:txBody>
      </p:sp>
      <p:sp>
        <p:nvSpPr>
          <p:cNvPr id="4" name="Rectangle 2">
            <a:extLst>
              <a:ext uri="{FF2B5EF4-FFF2-40B4-BE49-F238E27FC236}">
                <a16:creationId xmlns:a16="http://schemas.microsoft.com/office/drawing/2014/main" id="{7E70EFBB-0216-CE55-AF82-ADEF8E6D3BF1}"/>
              </a:ext>
            </a:extLst>
          </p:cNvPr>
          <p:cNvSpPr txBox="1">
            <a:spLocks noChangeArrowheads="1"/>
          </p:cNvSpPr>
          <p:nvPr/>
        </p:nvSpPr>
        <p:spPr bwMode="auto">
          <a:xfrm>
            <a:off x="2811" y="21336"/>
            <a:ext cx="118751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eaLnBrk="0" fontAlgn="base" hangingPunct="0">
              <a:lnSpc>
                <a:spcPct val="100000"/>
              </a:lnSpc>
              <a:spcBef>
                <a:spcPts val="1200"/>
              </a:spcBef>
              <a:spcAft>
                <a:spcPct val="0"/>
              </a:spcAft>
            </a:pPr>
            <a:r>
              <a:rPr lang="en-US" altLang="en-US" sz="1600" b="1" dirty="0">
                <a:latin typeface="Lato Medium" panose="020F0502020204030203" pitchFamily="34" charset="0"/>
                <a:ea typeface="Lato Medium" panose="020F0502020204030203" pitchFamily="34" charset="0"/>
                <a:cs typeface="Lato Medium" panose="020F0502020204030203" pitchFamily="34" charset="0"/>
              </a:rPr>
              <a:t> Dynamic Alpha Upper Bound Finding for A-RICD H2H</a:t>
            </a:r>
          </a:p>
        </p:txBody>
      </p:sp>
      <p:pic>
        <p:nvPicPr>
          <p:cNvPr id="9" name="Picture 8">
            <a:extLst>
              <a:ext uri="{FF2B5EF4-FFF2-40B4-BE49-F238E27FC236}">
                <a16:creationId xmlns:a16="http://schemas.microsoft.com/office/drawing/2014/main" id="{AAE48082-0BB2-037E-AD27-9E6D22DDB8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3708" y="3660687"/>
            <a:ext cx="5939130" cy="2769313"/>
          </a:xfrm>
          <a:prstGeom prst="rect">
            <a:avLst/>
          </a:prstGeom>
        </p:spPr>
      </p:pic>
      <p:pic>
        <p:nvPicPr>
          <p:cNvPr id="11" name="Picture 10">
            <a:extLst>
              <a:ext uri="{FF2B5EF4-FFF2-40B4-BE49-F238E27FC236}">
                <a16:creationId xmlns:a16="http://schemas.microsoft.com/office/drawing/2014/main" id="{8B340117-ED29-B8F5-5EFE-1BF55502D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3708" y="595846"/>
            <a:ext cx="5833385" cy="2720006"/>
          </a:xfrm>
          <a:prstGeom prst="rect">
            <a:avLst/>
          </a:prstGeom>
        </p:spPr>
      </p:pic>
    </p:spTree>
    <p:extLst>
      <p:ext uri="{BB962C8B-B14F-4D97-AF65-F5344CB8AC3E}">
        <p14:creationId xmlns:p14="http://schemas.microsoft.com/office/powerpoint/2010/main" val="3478795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171CC5B7-22AB-AA81-139F-7E6A851714D5}"/>
              </a:ext>
            </a:extLst>
          </p:cNvPr>
          <p:cNvSpPr txBox="1"/>
          <p:nvPr/>
        </p:nvSpPr>
        <p:spPr>
          <a:xfrm>
            <a:off x="2394031" y="3365159"/>
            <a:ext cx="7413983"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15:</a:t>
            </a:r>
            <a:r>
              <a:rPr lang="en-US" sz="1000" dirty="0">
                <a:latin typeface="Lato Medium" panose="020F0502020204030203" pitchFamily="34" charset="0"/>
                <a:ea typeface="Lato Medium" panose="020F0502020204030203" pitchFamily="34" charset="0"/>
                <a:cs typeface="Lato Medium" panose="020F0502020204030203" pitchFamily="34" charset="0"/>
              </a:rPr>
              <a:t> For 3.32 Alpha upper bound, the highest MC1 score of 57.65 is achieved in A-RICD IA in LLaMA-2-7B-Chat</a:t>
            </a:r>
          </a:p>
        </p:txBody>
      </p:sp>
      <p:sp>
        <p:nvSpPr>
          <p:cNvPr id="26" name="TextBox 25">
            <a:extLst>
              <a:ext uri="{FF2B5EF4-FFF2-40B4-BE49-F238E27FC236}">
                <a16:creationId xmlns:a16="http://schemas.microsoft.com/office/drawing/2014/main" id="{60B25F92-2CC6-2DBA-0F19-1510F467C7F7}"/>
              </a:ext>
            </a:extLst>
          </p:cNvPr>
          <p:cNvSpPr txBox="1"/>
          <p:nvPr/>
        </p:nvSpPr>
        <p:spPr>
          <a:xfrm>
            <a:off x="2507541" y="6430000"/>
            <a:ext cx="7176917"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16:</a:t>
            </a:r>
            <a:r>
              <a:rPr lang="en-US" sz="1000" dirty="0">
                <a:latin typeface="Lato Medium" panose="020F0502020204030203" pitchFamily="34" charset="0"/>
                <a:ea typeface="Lato Medium" panose="020F0502020204030203" pitchFamily="34" charset="0"/>
                <a:cs typeface="Lato Medium" panose="020F0502020204030203" pitchFamily="34" charset="0"/>
              </a:rPr>
              <a:t> For 1.73 Alpha upper bound, the highest MC1 score of 59.85 is achieved in A-RICD IA in Mistral-7B-Instruct</a:t>
            </a:r>
          </a:p>
        </p:txBody>
      </p:sp>
      <p:sp>
        <p:nvSpPr>
          <p:cNvPr id="2" name="Rectangle 1">
            <a:extLst>
              <a:ext uri="{FF2B5EF4-FFF2-40B4-BE49-F238E27FC236}">
                <a16:creationId xmlns:a16="http://schemas.microsoft.com/office/drawing/2014/main" id="{34D27790-688E-FE8C-8D01-615755DAD397}"/>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17</a:t>
            </a:r>
          </a:p>
        </p:txBody>
      </p:sp>
      <p:sp>
        <p:nvSpPr>
          <p:cNvPr id="3" name="Title 1">
            <a:extLst>
              <a:ext uri="{FF2B5EF4-FFF2-40B4-BE49-F238E27FC236}">
                <a16:creationId xmlns:a16="http://schemas.microsoft.com/office/drawing/2014/main" id="{CE6EAE7F-6195-3C02-B45F-A404043F5ADD}"/>
              </a:ext>
            </a:extLst>
          </p:cNvPr>
          <p:cNvSpPr>
            <a:spLocks noGrp="1"/>
          </p:cNvSpPr>
          <p:nvPr>
            <p:ph type="ctrTitle"/>
          </p:nvPr>
        </p:nvSpPr>
        <p:spPr>
          <a:xfrm>
            <a:off x="2874998" y="77223"/>
            <a:ext cx="9144000" cy="239131"/>
          </a:xfrm>
        </p:spPr>
        <p:txBody>
          <a:bodyPr>
            <a:noAutofit/>
          </a:body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p>
        </p:txBody>
      </p:sp>
      <p:sp>
        <p:nvSpPr>
          <p:cNvPr id="4" name="Rectangle 2">
            <a:extLst>
              <a:ext uri="{FF2B5EF4-FFF2-40B4-BE49-F238E27FC236}">
                <a16:creationId xmlns:a16="http://schemas.microsoft.com/office/drawing/2014/main" id="{7E70EFBB-0216-CE55-AF82-ADEF8E6D3BF1}"/>
              </a:ext>
            </a:extLst>
          </p:cNvPr>
          <p:cNvSpPr txBox="1">
            <a:spLocks noChangeArrowheads="1"/>
          </p:cNvSpPr>
          <p:nvPr/>
        </p:nvSpPr>
        <p:spPr bwMode="auto">
          <a:xfrm>
            <a:off x="2811" y="21336"/>
            <a:ext cx="118751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eaLnBrk="0" fontAlgn="base" hangingPunct="0">
              <a:lnSpc>
                <a:spcPct val="100000"/>
              </a:lnSpc>
              <a:spcBef>
                <a:spcPts val="1200"/>
              </a:spcBef>
              <a:spcAft>
                <a:spcPct val="0"/>
              </a:spcAft>
            </a:pPr>
            <a:r>
              <a:rPr lang="en-US" altLang="en-US" sz="1600" b="1" dirty="0">
                <a:latin typeface="Lato Medium" panose="020F0502020204030203" pitchFamily="34" charset="0"/>
                <a:ea typeface="Lato Medium" panose="020F0502020204030203" pitchFamily="34" charset="0"/>
                <a:cs typeface="Lato Medium" panose="020F0502020204030203" pitchFamily="34" charset="0"/>
              </a:rPr>
              <a:t> Dynamic Alpha Upper Bound Finding for A-RICD IA</a:t>
            </a:r>
          </a:p>
        </p:txBody>
      </p:sp>
      <p:pic>
        <p:nvPicPr>
          <p:cNvPr id="6" name="Picture 5">
            <a:extLst>
              <a:ext uri="{FF2B5EF4-FFF2-40B4-BE49-F238E27FC236}">
                <a16:creationId xmlns:a16="http://schemas.microsoft.com/office/drawing/2014/main" id="{8F06286B-E552-B289-6598-A5443C092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7151" y="656701"/>
            <a:ext cx="6137693" cy="2659151"/>
          </a:xfrm>
          <a:prstGeom prst="rect">
            <a:avLst/>
          </a:prstGeom>
        </p:spPr>
      </p:pic>
      <p:pic>
        <p:nvPicPr>
          <p:cNvPr id="8" name="Picture 7">
            <a:extLst>
              <a:ext uri="{FF2B5EF4-FFF2-40B4-BE49-F238E27FC236}">
                <a16:creationId xmlns:a16="http://schemas.microsoft.com/office/drawing/2014/main" id="{EE4B5DC5-CF0C-E025-EC58-7D29BE21E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7151" y="3620264"/>
            <a:ext cx="6025820" cy="2809736"/>
          </a:xfrm>
          <a:prstGeom prst="rect">
            <a:avLst/>
          </a:prstGeom>
        </p:spPr>
      </p:pic>
    </p:spTree>
    <p:extLst>
      <p:ext uri="{BB962C8B-B14F-4D97-AF65-F5344CB8AC3E}">
        <p14:creationId xmlns:p14="http://schemas.microsoft.com/office/powerpoint/2010/main" val="2903131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171CC5B7-22AB-AA81-139F-7E6A851714D5}"/>
              </a:ext>
            </a:extLst>
          </p:cNvPr>
          <p:cNvSpPr txBox="1"/>
          <p:nvPr/>
        </p:nvSpPr>
        <p:spPr>
          <a:xfrm>
            <a:off x="2394031" y="3365159"/>
            <a:ext cx="7413983"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17:</a:t>
            </a:r>
            <a:r>
              <a:rPr lang="en-US" sz="1000" dirty="0">
                <a:latin typeface="Lato Medium" panose="020F0502020204030203" pitchFamily="34" charset="0"/>
                <a:ea typeface="Lato Medium" panose="020F0502020204030203" pitchFamily="34" charset="0"/>
                <a:cs typeface="Lato Medium" panose="020F0502020204030203" pitchFamily="34" charset="0"/>
              </a:rPr>
              <a:t> For 1.38 Alpha upper bound, the highest MC1 score of 64.26 is achieved in A-RICD NIA in LLaMA-2-7B-Chat</a:t>
            </a:r>
          </a:p>
        </p:txBody>
      </p:sp>
      <p:sp>
        <p:nvSpPr>
          <p:cNvPr id="26" name="TextBox 25">
            <a:extLst>
              <a:ext uri="{FF2B5EF4-FFF2-40B4-BE49-F238E27FC236}">
                <a16:creationId xmlns:a16="http://schemas.microsoft.com/office/drawing/2014/main" id="{60B25F92-2CC6-2DBA-0F19-1510F467C7F7}"/>
              </a:ext>
            </a:extLst>
          </p:cNvPr>
          <p:cNvSpPr txBox="1"/>
          <p:nvPr/>
        </p:nvSpPr>
        <p:spPr>
          <a:xfrm>
            <a:off x="2507541" y="6430000"/>
            <a:ext cx="7176917"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18:</a:t>
            </a:r>
            <a:r>
              <a:rPr lang="en-US" sz="1000" dirty="0">
                <a:latin typeface="Lato Medium" panose="020F0502020204030203" pitchFamily="34" charset="0"/>
                <a:ea typeface="Lato Medium" panose="020F0502020204030203" pitchFamily="34" charset="0"/>
                <a:cs typeface="Lato Medium" panose="020F0502020204030203" pitchFamily="34" charset="0"/>
              </a:rPr>
              <a:t> For 1.35 Alpha upper bound, the highest MC1 score of 61.32 is achieved in A-RICD NIA in Mistral-7B-Instruct</a:t>
            </a:r>
          </a:p>
        </p:txBody>
      </p:sp>
      <p:sp>
        <p:nvSpPr>
          <p:cNvPr id="2" name="Rectangle 1">
            <a:extLst>
              <a:ext uri="{FF2B5EF4-FFF2-40B4-BE49-F238E27FC236}">
                <a16:creationId xmlns:a16="http://schemas.microsoft.com/office/drawing/2014/main" id="{34D27790-688E-FE8C-8D01-615755DAD397}"/>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18</a:t>
            </a:r>
          </a:p>
        </p:txBody>
      </p:sp>
      <p:sp>
        <p:nvSpPr>
          <p:cNvPr id="3" name="Title 1">
            <a:extLst>
              <a:ext uri="{FF2B5EF4-FFF2-40B4-BE49-F238E27FC236}">
                <a16:creationId xmlns:a16="http://schemas.microsoft.com/office/drawing/2014/main" id="{CE6EAE7F-6195-3C02-B45F-A404043F5ADD}"/>
              </a:ext>
            </a:extLst>
          </p:cNvPr>
          <p:cNvSpPr>
            <a:spLocks noGrp="1"/>
          </p:cNvSpPr>
          <p:nvPr>
            <p:ph type="ctrTitle"/>
          </p:nvPr>
        </p:nvSpPr>
        <p:spPr>
          <a:xfrm>
            <a:off x="2874998" y="77223"/>
            <a:ext cx="9144000" cy="239131"/>
          </a:xfrm>
        </p:spPr>
        <p:txBody>
          <a:bodyPr>
            <a:noAutofit/>
          </a:body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Models &amp; Result (Cont.)</a:t>
            </a:r>
          </a:p>
        </p:txBody>
      </p:sp>
      <p:sp>
        <p:nvSpPr>
          <p:cNvPr id="4" name="Rectangle 2">
            <a:extLst>
              <a:ext uri="{FF2B5EF4-FFF2-40B4-BE49-F238E27FC236}">
                <a16:creationId xmlns:a16="http://schemas.microsoft.com/office/drawing/2014/main" id="{7E70EFBB-0216-CE55-AF82-ADEF8E6D3BF1}"/>
              </a:ext>
            </a:extLst>
          </p:cNvPr>
          <p:cNvSpPr txBox="1">
            <a:spLocks noChangeArrowheads="1"/>
          </p:cNvSpPr>
          <p:nvPr/>
        </p:nvSpPr>
        <p:spPr bwMode="auto">
          <a:xfrm>
            <a:off x="2811" y="21336"/>
            <a:ext cx="118751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eaLnBrk="0" fontAlgn="base" hangingPunct="0">
              <a:lnSpc>
                <a:spcPct val="100000"/>
              </a:lnSpc>
              <a:spcBef>
                <a:spcPts val="1200"/>
              </a:spcBef>
              <a:spcAft>
                <a:spcPct val="0"/>
              </a:spcAft>
            </a:pPr>
            <a:r>
              <a:rPr lang="en-US" altLang="en-US" sz="1600" b="1" dirty="0">
                <a:latin typeface="Lato Medium" panose="020F0502020204030203" pitchFamily="34" charset="0"/>
                <a:ea typeface="Lato Medium" panose="020F0502020204030203" pitchFamily="34" charset="0"/>
                <a:cs typeface="Lato Medium" panose="020F0502020204030203" pitchFamily="34" charset="0"/>
              </a:rPr>
              <a:t> Dynamic Alpha Upper Bound Finding for A-RICD NIA</a:t>
            </a:r>
          </a:p>
        </p:txBody>
      </p:sp>
      <p:pic>
        <p:nvPicPr>
          <p:cNvPr id="7" name="Picture 6">
            <a:extLst>
              <a:ext uri="{FF2B5EF4-FFF2-40B4-BE49-F238E27FC236}">
                <a16:creationId xmlns:a16="http://schemas.microsoft.com/office/drawing/2014/main" id="{C63081CA-34D1-5D28-B70A-52E9A239E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7151" y="3660687"/>
            <a:ext cx="5939131" cy="2769313"/>
          </a:xfrm>
          <a:prstGeom prst="rect">
            <a:avLst/>
          </a:prstGeom>
        </p:spPr>
      </p:pic>
      <p:pic>
        <p:nvPicPr>
          <p:cNvPr id="10" name="Picture 9">
            <a:extLst>
              <a:ext uri="{FF2B5EF4-FFF2-40B4-BE49-F238E27FC236}">
                <a16:creationId xmlns:a16="http://schemas.microsoft.com/office/drawing/2014/main" id="{231EA59B-D1C3-FF4C-EF33-89735CE02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8282" y="423428"/>
            <a:ext cx="8555435" cy="2888194"/>
          </a:xfrm>
          <a:prstGeom prst="rect">
            <a:avLst/>
          </a:prstGeom>
        </p:spPr>
      </p:pic>
    </p:spTree>
    <p:extLst>
      <p:ext uri="{BB962C8B-B14F-4D97-AF65-F5344CB8AC3E}">
        <p14:creationId xmlns:p14="http://schemas.microsoft.com/office/powerpoint/2010/main" val="2266626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Comparative Analysis</a:t>
            </a:r>
          </a:p>
        </p:txBody>
      </p:sp>
      <p:sp>
        <p:nvSpPr>
          <p:cNvPr id="6" name="TextBox 5">
            <a:extLst>
              <a:ext uri="{FF2B5EF4-FFF2-40B4-BE49-F238E27FC236}">
                <a16:creationId xmlns:a16="http://schemas.microsoft.com/office/drawing/2014/main" id="{84B88BC5-9975-094D-883C-B29133B71953}"/>
              </a:ext>
            </a:extLst>
          </p:cNvPr>
          <p:cNvSpPr txBox="1"/>
          <p:nvPr/>
        </p:nvSpPr>
        <p:spPr>
          <a:xfrm>
            <a:off x="3134499" y="6145883"/>
            <a:ext cx="5923002" cy="246221"/>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19:</a:t>
            </a:r>
            <a:r>
              <a:rPr lang="en-US" sz="1000" dirty="0">
                <a:latin typeface="Lato Medium" panose="020F0502020204030203" pitchFamily="34" charset="0"/>
                <a:ea typeface="Lato Medium" panose="020F0502020204030203" pitchFamily="34" charset="0"/>
                <a:cs typeface="Lato Medium" panose="020F0502020204030203" pitchFamily="34" charset="0"/>
              </a:rPr>
              <a:t> Comparative analysis in MC1 score with baseline</a:t>
            </a:r>
          </a:p>
        </p:txBody>
      </p:sp>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19</a:t>
            </a:r>
          </a:p>
        </p:txBody>
      </p:sp>
      <p:pic>
        <p:nvPicPr>
          <p:cNvPr id="11" name="Picture 10">
            <a:extLst>
              <a:ext uri="{FF2B5EF4-FFF2-40B4-BE49-F238E27FC236}">
                <a16:creationId xmlns:a16="http://schemas.microsoft.com/office/drawing/2014/main" id="{E08B03F4-6B44-A3AE-9EF3-BAF91567C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211" y="1002955"/>
            <a:ext cx="9291577" cy="5112039"/>
          </a:xfrm>
          <a:prstGeom prst="rect">
            <a:avLst/>
          </a:prstGeom>
        </p:spPr>
      </p:pic>
    </p:spTree>
    <p:extLst>
      <p:ext uri="{BB962C8B-B14F-4D97-AF65-F5344CB8AC3E}">
        <p14:creationId xmlns:p14="http://schemas.microsoft.com/office/powerpoint/2010/main" val="2148052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B88BC5-9975-094D-883C-B29133B71953}"/>
              </a:ext>
            </a:extLst>
          </p:cNvPr>
          <p:cNvSpPr txBox="1"/>
          <p:nvPr/>
        </p:nvSpPr>
        <p:spPr>
          <a:xfrm>
            <a:off x="3134499" y="5601412"/>
            <a:ext cx="5923002"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20:</a:t>
            </a:r>
            <a:r>
              <a:rPr lang="en-US" sz="1000" dirty="0">
                <a:latin typeface="Lato Medium" panose="020F0502020204030203" pitchFamily="34" charset="0"/>
                <a:ea typeface="Lato Medium" panose="020F0502020204030203" pitchFamily="34" charset="0"/>
                <a:cs typeface="Lato Medium" panose="020F0502020204030203" pitchFamily="34" charset="0"/>
              </a:rPr>
              <a:t> Comparative analysis in MC1, MC2 &amp; MC3 score with baseline across all task formats and all A-RICD variants for LLaMA-2-7B-Chat.</a:t>
            </a:r>
          </a:p>
        </p:txBody>
      </p:sp>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20</a:t>
            </a:r>
          </a:p>
        </p:txBody>
      </p:sp>
      <p:sp>
        <p:nvSpPr>
          <p:cNvPr id="4" name="Title 1">
            <a:extLst>
              <a:ext uri="{FF2B5EF4-FFF2-40B4-BE49-F238E27FC236}">
                <a16:creationId xmlns:a16="http://schemas.microsoft.com/office/drawing/2014/main" id="{24103EC1-BD60-5771-A74C-DA936F1CDFAB}"/>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Comparative Analysis (Cont.)</a:t>
            </a:r>
          </a:p>
        </p:txBody>
      </p:sp>
      <p:pic>
        <p:nvPicPr>
          <p:cNvPr id="8" name="Picture 7">
            <a:extLst>
              <a:ext uri="{FF2B5EF4-FFF2-40B4-BE49-F238E27FC236}">
                <a16:creationId xmlns:a16="http://schemas.microsoft.com/office/drawing/2014/main" id="{856A0D61-CA17-0CD5-0B40-1CB49BB4D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751" y="970601"/>
            <a:ext cx="11516497" cy="4422522"/>
          </a:xfrm>
          <a:prstGeom prst="rect">
            <a:avLst/>
          </a:prstGeom>
        </p:spPr>
      </p:pic>
    </p:spTree>
    <p:extLst>
      <p:ext uri="{BB962C8B-B14F-4D97-AF65-F5344CB8AC3E}">
        <p14:creationId xmlns:p14="http://schemas.microsoft.com/office/powerpoint/2010/main" val="354487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B88BC5-9975-094D-883C-B29133B71953}"/>
              </a:ext>
            </a:extLst>
          </p:cNvPr>
          <p:cNvSpPr txBox="1"/>
          <p:nvPr/>
        </p:nvSpPr>
        <p:spPr>
          <a:xfrm>
            <a:off x="7941004" y="5816739"/>
            <a:ext cx="4250996" cy="400110"/>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23:</a:t>
            </a:r>
            <a:r>
              <a:rPr lang="en-US" sz="1000" dirty="0">
                <a:latin typeface="Lato Medium" panose="020F0502020204030203" pitchFamily="34" charset="0"/>
                <a:ea typeface="Lato Medium" panose="020F0502020204030203" pitchFamily="34" charset="0"/>
                <a:cs typeface="Lato Medium" panose="020F0502020204030203" pitchFamily="34" charset="0"/>
              </a:rPr>
              <a:t> Performance comparison of different task formats (Sum, Dialog, QA) on </a:t>
            </a:r>
            <a:r>
              <a:rPr lang="en-US" sz="1000" dirty="0" err="1">
                <a:latin typeface="Lato Medium" panose="020F0502020204030203" pitchFamily="34" charset="0"/>
                <a:ea typeface="Lato Medium" panose="020F0502020204030203" pitchFamily="34" charset="0"/>
                <a:cs typeface="Lato Medium" panose="020F0502020204030203" pitchFamily="34" charset="0"/>
              </a:rPr>
              <a:t>TruthfulQA</a:t>
            </a:r>
            <a:r>
              <a:rPr lang="en-US" sz="1000" dirty="0">
                <a:latin typeface="Lato Medium" panose="020F0502020204030203" pitchFamily="34" charset="0"/>
                <a:ea typeface="Lato Medium" panose="020F0502020204030203" pitchFamily="34" charset="0"/>
                <a:cs typeface="Lato Medium" panose="020F0502020204030203" pitchFamily="34" charset="0"/>
              </a:rPr>
              <a:t> across ICD and A-RICD variants.</a:t>
            </a:r>
          </a:p>
        </p:txBody>
      </p:sp>
      <p:sp>
        <p:nvSpPr>
          <p:cNvPr id="3" name="Rectangle 2">
            <a:extLst>
              <a:ext uri="{FF2B5EF4-FFF2-40B4-BE49-F238E27FC236}">
                <a16:creationId xmlns:a16="http://schemas.microsoft.com/office/drawing/2014/main" id="{2E6F7375-6689-6283-88A6-27CDC7B3633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21</a:t>
            </a:r>
          </a:p>
        </p:txBody>
      </p:sp>
      <p:sp>
        <p:nvSpPr>
          <p:cNvPr id="4" name="Title 1">
            <a:extLst>
              <a:ext uri="{FF2B5EF4-FFF2-40B4-BE49-F238E27FC236}">
                <a16:creationId xmlns:a16="http://schemas.microsoft.com/office/drawing/2014/main" id="{24103EC1-BD60-5771-A74C-DA936F1CDFAB}"/>
              </a:ext>
            </a:extLst>
          </p:cNvPr>
          <p:cNvSpPr txBox="1">
            <a:spLocks/>
          </p:cNvSpPr>
          <p:nvPr/>
        </p:nvSpPr>
        <p:spPr>
          <a:xfrm>
            <a:off x="2874998" y="77223"/>
            <a:ext cx="9144000" cy="2391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200" b="1" dirty="0">
                <a:solidFill>
                  <a:schemeClr val="tx1">
                    <a:lumMod val="50000"/>
                    <a:lumOff val="50000"/>
                  </a:schemeClr>
                </a:solidFill>
                <a:latin typeface="Lato Black" panose="020F0502020204030203" pitchFamily="34" charset="0"/>
                <a:ea typeface="Lato Black" panose="020F0502020204030203" pitchFamily="34" charset="0"/>
                <a:cs typeface="Lato Black" panose="020F0502020204030203" pitchFamily="34" charset="0"/>
              </a:rPr>
              <a:t>Comparative Analysis (Cont.)</a:t>
            </a:r>
          </a:p>
        </p:txBody>
      </p:sp>
      <p:pic>
        <p:nvPicPr>
          <p:cNvPr id="8" name="Picture 7">
            <a:extLst>
              <a:ext uri="{FF2B5EF4-FFF2-40B4-BE49-F238E27FC236}">
                <a16:creationId xmlns:a16="http://schemas.microsoft.com/office/drawing/2014/main" id="{134F89BB-926D-F7F7-2FB7-90CD452293AD}"/>
              </a:ext>
            </a:extLst>
          </p:cNvPr>
          <p:cNvPicPr>
            <a:picLocks noChangeAspect="1"/>
          </p:cNvPicPr>
          <p:nvPr/>
        </p:nvPicPr>
        <p:blipFill>
          <a:blip r:embed="rId2"/>
          <a:stretch>
            <a:fillRect/>
          </a:stretch>
        </p:blipFill>
        <p:spPr>
          <a:xfrm>
            <a:off x="236504" y="2369956"/>
            <a:ext cx="3569583" cy="2213907"/>
          </a:xfrm>
          <a:prstGeom prst="rect">
            <a:avLst/>
          </a:prstGeom>
        </p:spPr>
      </p:pic>
      <p:pic>
        <p:nvPicPr>
          <p:cNvPr id="11" name="Picture 10">
            <a:extLst>
              <a:ext uri="{FF2B5EF4-FFF2-40B4-BE49-F238E27FC236}">
                <a16:creationId xmlns:a16="http://schemas.microsoft.com/office/drawing/2014/main" id="{98A01451-1348-5F5A-FC4D-BFDBD6A88716}"/>
              </a:ext>
            </a:extLst>
          </p:cNvPr>
          <p:cNvPicPr>
            <a:picLocks noChangeAspect="1"/>
          </p:cNvPicPr>
          <p:nvPr/>
        </p:nvPicPr>
        <p:blipFill>
          <a:blip r:embed="rId3"/>
          <a:stretch>
            <a:fillRect/>
          </a:stretch>
        </p:blipFill>
        <p:spPr>
          <a:xfrm>
            <a:off x="7863745" y="1029523"/>
            <a:ext cx="4250996" cy="4798953"/>
          </a:xfrm>
          <a:prstGeom prst="rect">
            <a:avLst/>
          </a:prstGeom>
        </p:spPr>
      </p:pic>
      <p:sp>
        <p:nvSpPr>
          <p:cNvPr id="13" name="TextBox 12">
            <a:extLst>
              <a:ext uri="{FF2B5EF4-FFF2-40B4-BE49-F238E27FC236}">
                <a16:creationId xmlns:a16="http://schemas.microsoft.com/office/drawing/2014/main" id="{DC1484D8-C943-ECE8-CDD3-A986AF0E4C84}"/>
              </a:ext>
            </a:extLst>
          </p:cNvPr>
          <p:cNvSpPr txBox="1"/>
          <p:nvPr/>
        </p:nvSpPr>
        <p:spPr>
          <a:xfrm>
            <a:off x="236503" y="4583863"/>
            <a:ext cx="3569583" cy="553998"/>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21: </a:t>
            </a:r>
            <a:r>
              <a:rPr lang="en-US" sz="1000" dirty="0">
                <a:latin typeface="Lato Medium" panose="020F0502020204030203" pitchFamily="34" charset="0"/>
                <a:ea typeface="Lato Medium" panose="020F0502020204030203" pitchFamily="34" charset="0"/>
                <a:cs typeface="Lato Medium" panose="020F0502020204030203" pitchFamily="34" charset="0"/>
              </a:rPr>
              <a:t>Performance on </a:t>
            </a:r>
            <a:r>
              <a:rPr lang="en-US" sz="1000" b="0" dirty="0" err="1">
                <a:effectLst/>
                <a:latin typeface="Lato Medium" panose="020F0502020204030203" pitchFamily="34" charset="0"/>
                <a:ea typeface="Lato Medium" panose="020F0502020204030203" pitchFamily="34" charset="0"/>
                <a:cs typeface="Lato Medium" panose="020F0502020204030203" pitchFamily="34" charset="0"/>
              </a:rPr>
              <a:t>TruthfulQA</a:t>
            </a:r>
            <a:r>
              <a:rPr lang="en-US" sz="1000" b="0" dirty="0">
                <a:effectLst/>
                <a:latin typeface="Lato Medium" panose="020F0502020204030203" pitchFamily="34" charset="0"/>
                <a:ea typeface="Lato Medium" panose="020F0502020204030203" pitchFamily="34" charset="0"/>
                <a:cs typeface="Lato Medium" panose="020F0502020204030203" pitchFamily="34" charset="0"/>
              </a:rPr>
              <a:t> benchmark for QA task format across LLaMA-2-7B-Chat, ICD, and A-RICD variants.</a:t>
            </a:r>
          </a:p>
        </p:txBody>
      </p:sp>
      <p:pic>
        <p:nvPicPr>
          <p:cNvPr id="15" name="Picture 14">
            <a:extLst>
              <a:ext uri="{FF2B5EF4-FFF2-40B4-BE49-F238E27FC236}">
                <a16:creationId xmlns:a16="http://schemas.microsoft.com/office/drawing/2014/main" id="{2EF950AD-4E7F-E163-B170-5E5D9D549D16}"/>
              </a:ext>
            </a:extLst>
          </p:cNvPr>
          <p:cNvPicPr>
            <a:picLocks noChangeAspect="1"/>
          </p:cNvPicPr>
          <p:nvPr/>
        </p:nvPicPr>
        <p:blipFill>
          <a:blip r:embed="rId4"/>
          <a:stretch>
            <a:fillRect/>
          </a:stretch>
        </p:blipFill>
        <p:spPr>
          <a:xfrm>
            <a:off x="4307504" y="2465775"/>
            <a:ext cx="3333115" cy="2118088"/>
          </a:xfrm>
          <a:prstGeom prst="rect">
            <a:avLst/>
          </a:prstGeom>
        </p:spPr>
      </p:pic>
      <p:sp>
        <p:nvSpPr>
          <p:cNvPr id="16" name="TextBox 15">
            <a:extLst>
              <a:ext uri="{FF2B5EF4-FFF2-40B4-BE49-F238E27FC236}">
                <a16:creationId xmlns:a16="http://schemas.microsoft.com/office/drawing/2014/main" id="{B0904989-9EE7-8F9E-7592-184859539853}"/>
              </a:ext>
            </a:extLst>
          </p:cNvPr>
          <p:cNvSpPr txBox="1"/>
          <p:nvPr/>
        </p:nvSpPr>
        <p:spPr>
          <a:xfrm>
            <a:off x="4189269" y="4583863"/>
            <a:ext cx="3569583" cy="553998"/>
          </a:xfrm>
          <a:prstGeom prst="rect">
            <a:avLst/>
          </a:prstGeom>
          <a:noFill/>
        </p:spPr>
        <p:txBody>
          <a:bodyPr wrap="square">
            <a:spAutoFit/>
          </a:bodyPr>
          <a:lstStyle/>
          <a:p>
            <a:pPr algn="ctr"/>
            <a:r>
              <a:rPr lang="en-US" sz="1000" b="1" dirty="0">
                <a:latin typeface="Lato Medium" panose="020F0502020204030203" pitchFamily="34" charset="0"/>
                <a:ea typeface="Lato Medium" panose="020F0502020204030203" pitchFamily="34" charset="0"/>
                <a:cs typeface="Lato Medium" panose="020F0502020204030203" pitchFamily="34" charset="0"/>
              </a:rPr>
              <a:t>Figure 22: </a:t>
            </a:r>
            <a:r>
              <a:rPr lang="en-US" sz="1000" dirty="0">
                <a:latin typeface="Lato Medium" panose="020F0502020204030203" pitchFamily="34" charset="0"/>
                <a:ea typeface="Lato Medium" panose="020F0502020204030203" pitchFamily="34" charset="0"/>
                <a:cs typeface="Lato Medium" panose="020F0502020204030203" pitchFamily="34" charset="0"/>
              </a:rPr>
              <a:t>Performance on </a:t>
            </a:r>
            <a:r>
              <a:rPr lang="en-US" sz="1000" b="0" dirty="0" err="1">
                <a:effectLst/>
                <a:latin typeface="Lato Medium" panose="020F0502020204030203" pitchFamily="34" charset="0"/>
                <a:ea typeface="Lato Medium" panose="020F0502020204030203" pitchFamily="34" charset="0"/>
                <a:cs typeface="Lato Medium" panose="020F0502020204030203" pitchFamily="34" charset="0"/>
              </a:rPr>
              <a:t>TruthfulQA</a:t>
            </a:r>
            <a:r>
              <a:rPr lang="en-US" sz="1000" b="0" dirty="0">
                <a:effectLst/>
                <a:latin typeface="Lato Medium" panose="020F0502020204030203" pitchFamily="34" charset="0"/>
                <a:ea typeface="Lato Medium" panose="020F0502020204030203" pitchFamily="34" charset="0"/>
                <a:cs typeface="Lato Medium" panose="020F0502020204030203" pitchFamily="34" charset="0"/>
              </a:rPr>
              <a:t> benchmark for QA task format across Mistral-7B-Instruct, ICD, and A-RICD variants.</a:t>
            </a:r>
          </a:p>
        </p:txBody>
      </p:sp>
    </p:spTree>
    <p:extLst>
      <p:ext uri="{BB962C8B-B14F-4D97-AF65-F5344CB8AC3E}">
        <p14:creationId xmlns:p14="http://schemas.microsoft.com/office/powerpoint/2010/main" val="159296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Conclusion &amp; Future Work</a:t>
            </a:r>
          </a:p>
        </p:txBody>
      </p:sp>
      <p:sp>
        <p:nvSpPr>
          <p:cNvPr id="3" name="Rectangle 2">
            <a:extLst>
              <a:ext uri="{FF2B5EF4-FFF2-40B4-BE49-F238E27FC236}">
                <a16:creationId xmlns:a16="http://schemas.microsoft.com/office/drawing/2014/main" id="{8F3C3C91-EEE3-BCCF-0054-A9EF84BD03B5}"/>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22</a:t>
            </a:r>
          </a:p>
        </p:txBody>
      </p:sp>
      <p:sp>
        <p:nvSpPr>
          <p:cNvPr id="4" name="Rectangle 1">
            <a:extLst>
              <a:ext uri="{FF2B5EF4-FFF2-40B4-BE49-F238E27FC236}">
                <a16:creationId xmlns:a16="http://schemas.microsoft.com/office/drawing/2014/main" id="{15745C50-966D-78D4-240A-5B2DAAD422EC}"/>
              </a:ext>
            </a:extLst>
          </p:cNvPr>
          <p:cNvSpPr>
            <a:spLocks noGrp="1" noChangeArrowheads="1"/>
          </p:cNvSpPr>
          <p:nvPr>
            <p:ph type="subTitle" idx="1"/>
          </p:nvPr>
        </p:nvSpPr>
        <p:spPr bwMode="auto">
          <a:xfrm>
            <a:off x="705645" y="2299139"/>
            <a:ext cx="10780710" cy="2259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This work introduced a contrastive decoding framework using a hallucination-trained amateur </a:t>
            </a:r>
            <a:r>
              <a:rPr kumimoji="0" lang="en-US" altLang="en-US" sz="1600" b="0" i="0" u="none" strike="noStrike" cap="none" normalizeH="0" baseline="0" dirty="0" err="1">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LoRA</a:t>
            </a: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adapter to improve factual accuracy without modifying the expert model. The dynamic alpha selection strategy proved effective in separating correct from incorrect answers on </a:t>
            </a:r>
            <a:r>
              <a:rPr kumimoji="0" lang="en-US" altLang="en-US" sz="1600" b="0" i="0" u="none" strike="noStrike" cap="none" normalizeH="0" baseline="0" dirty="0" err="1">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TruthfulQA</a:t>
            </a: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Looking ahead, combining this approach with </a:t>
            </a:r>
            <a:r>
              <a:rPr lang="en-US" sz="1600" dirty="0">
                <a:latin typeface="Lato Medium" panose="020F0502020204030203" pitchFamily="34" charset="0"/>
                <a:ea typeface="Lato Medium" panose="020F0502020204030203" pitchFamily="34" charset="0"/>
                <a:cs typeface="Lato Medium" panose="020F0502020204030203" pitchFamily="34" charset="0"/>
              </a:rPr>
              <a:t>retrieval-augmented generation</a:t>
            </a: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 (RAG), multi-agent verification pipelines, and tool-use systems are exciting directions that could make it significantly more robust in real-world settings. Training the amateur on multilingual and domain-specific false data would also be a worthwhile step toward broader </a:t>
            </a:r>
            <a:r>
              <a:rPr kumimoji="0" lang="en-US" altLang="en-US" sz="1600" b="0" i="0" u="none" strike="noStrike" cap="none" normalizeH="0" baseline="0" dirty="0" err="1">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generalisation</a:t>
            </a:r>
            <a:r>
              <a:rPr kumimoji="0" lang="en-US" altLang="en-US" sz="1600" b="0" i="0"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rPr>
              <a:t>.</a:t>
            </a:r>
          </a:p>
        </p:txBody>
      </p:sp>
    </p:spTree>
    <p:extLst>
      <p:ext uri="{BB962C8B-B14F-4D97-AF65-F5344CB8AC3E}">
        <p14:creationId xmlns:p14="http://schemas.microsoft.com/office/powerpoint/2010/main" val="4022443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ctrTitle"/>
          </p:nvPr>
        </p:nvSpPr>
        <p:spPr>
          <a:xfrm>
            <a:off x="1524000" y="589006"/>
            <a:ext cx="9144000" cy="383060"/>
          </a:xfrm>
        </p:spPr>
        <p:txBody>
          <a:bodyPr>
            <a:noAutofit/>
          </a:bodyPr>
          <a:lstStyle/>
          <a:p>
            <a:r>
              <a:rPr lang="en-US" sz="2400" b="1" dirty="0">
                <a:latin typeface="Lato Black" panose="020F0502020204030203" pitchFamily="34" charset="0"/>
                <a:ea typeface="Lato Black" panose="020F0502020204030203" pitchFamily="34" charset="0"/>
                <a:cs typeface="Lato Black" panose="020F0502020204030203" pitchFamily="34" charset="0"/>
              </a:rPr>
              <a:t>References</a:t>
            </a:r>
          </a:p>
        </p:txBody>
      </p:sp>
      <p:sp>
        <p:nvSpPr>
          <p:cNvPr id="5" name="Rectangle 2">
            <a:extLst>
              <a:ext uri="{FF2B5EF4-FFF2-40B4-BE49-F238E27FC236}">
                <a16:creationId xmlns:a16="http://schemas.microsoft.com/office/drawing/2014/main" id="{95B7D8DB-B075-4A60-8A50-FB798A41E0C6}"/>
              </a:ext>
            </a:extLst>
          </p:cNvPr>
          <p:cNvSpPr>
            <a:spLocks noGrp="1" noChangeArrowheads="1"/>
          </p:cNvSpPr>
          <p:nvPr>
            <p:ph type="subTitle" idx="1"/>
          </p:nvPr>
        </p:nvSpPr>
        <p:spPr bwMode="auto">
          <a:xfrm>
            <a:off x="867033" y="1566952"/>
            <a:ext cx="10457934"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eaLnBrk="0" fontAlgn="base" hangingPunct="0">
              <a:lnSpc>
                <a:spcPct val="100000"/>
              </a:lnSpc>
              <a:spcBef>
                <a:spcPts val="1200"/>
              </a:spcBef>
              <a:spcAft>
                <a:spcPct val="0"/>
              </a:spcAft>
            </a:pPr>
            <a:r>
              <a:rPr lang="en-US" sz="1400" b="0" i="0"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[1] 	Yin, F., Ye, X., &amp; Durrett, G. (2024). </a:t>
            </a:r>
            <a:r>
              <a:rPr lang="en-US" sz="1400" b="0" i="0" dirty="0" err="1">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Lofit</a:t>
            </a:r>
            <a:r>
              <a:rPr lang="en-US" sz="1400" b="0" i="0"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 Localized fine-tuning on </a:t>
            </a:r>
            <a:r>
              <a:rPr lang="en-US" sz="1400" b="0" i="0" dirty="0" err="1">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llm</a:t>
            </a:r>
            <a:r>
              <a:rPr lang="en-US" sz="1400" b="0" i="0"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 representations. </a:t>
            </a:r>
            <a:r>
              <a:rPr lang="en-US" sz="1400" b="0" i="1"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Advances in neural information processing systems</a:t>
            </a:r>
            <a:r>
              <a:rPr lang="en-US" sz="1400" b="0" i="0"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 </a:t>
            </a:r>
            <a:r>
              <a:rPr lang="en-US" sz="1400" b="0" i="1"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37</a:t>
            </a:r>
            <a:r>
              <a:rPr lang="en-US" sz="1400" b="0" i="0" dirty="0">
                <a:solidFill>
                  <a:srgbClr val="222222"/>
                </a:solidFill>
                <a:effectLst/>
                <a:latin typeface="Lato Medium" panose="020F0502020204030203" pitchFamily="34" charset="0"/>
                <a:ea typeface="Lato Medium" panose="020F0502020204030203" pitchFamily="34" charset="0"/>
                <a:cs typeface="Lato Medium" panose="020F0502020204030203" pitchFamily="34" charset="0"/>
              </a:rPr>
              <a:t>, 9474-9506.</a:t>
            </a:r>
            <a:endPar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endParaRPr>
          </a:p>
          <a:p>
            <a:pPr marL="457200" indent="-457200" algn="just" eaLnBrk="0" fontAlgn="base" hangingPunct="0">
              <a:lnSpc>
                <a:spcPct val="100000"/>
              </a:lnSpc>
              <a:spcBef>
                <a:spcPts val="1200"/>
              </a:spcBef>
              <a:spcAft>
                <a:spcPct val="0"/>
              </a:spcAft>
            </a:pP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[2]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Jushi</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Kai,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Tianhang</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Zhang, Hai Hu, and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Zhouhan</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Lin. 2024. </a:t>
            </a:r>
            <a:r>
              <a:rPr lang="en-US" sz="1400" b="0" i="0" u="none" strike="noStrike" dirty="0">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2"/>
              </a:rPr>
              <a:t>SH2: Self-Highlighted Hesitation Helps You Decode More Truthfully</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In </a:t>
            </a:r>
            <a:r>
              <a:rPr lang="en-US" sz="1400" b="0" i="1"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Findings of the Association for Computational Linguistics: EMNLP 2024</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pages 4514–4530, Miami, Florida, USA. Association for Computational Linguistics.</a:t>
            </a:r>
          </a:p>
          <a:p>
            <a:pPr marL="457200" indent="-457200" algn="just" eaLnBrk="0" fontAlgn="base" hangingPunct="0">
              <a:lnSpc>
                <a:spcPct val="100000"/>
              </a:lnSpc>
              <a:spcBef>
                <a:spcPts val="1200"/>
              </a:spcBef>
              <a:spcAft>
                <a:spcPct val="0"/>
              </a:spcAft>
            </a:pP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[3]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Shaolei</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Zhang, Tian Yu, and Yang Feng. 2024. </a:t>
            </a:r>
            <a:r>
              <a:rPr lang="en-US" sz="1400" b="0" i="0" u="none" strike="noStrike" dirty="0" err="1">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3"/>
              </a:rPr>
              <a:t>TruthX</a:t>
            </a:r>
            <a:r>
              <a:rPr lang="en-US" sz="1400" b="0" i="0" u="none" strike="noStrike" dirty="0">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3"/>
              </a:rPr>
              <a:t>: Alleviating Hallucinations by Editing Large Language Models in Truthful Space</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In </a:t>
            </a:r>
            <a:r>
              <a:rPr lang="en-US" sz="1400" b="0" i="1"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Proceedings of the 62nd Annual Meeting of the Association for Computational Linguistics (Volume 1: Long Papers)</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pages 8908–8949, Bangkok, Thailand. Association for Computational Linguistics.</a:t>
            </a:r>
          </a:p>
          <a:p>
            <a:pPr marL="457200" indent="-457200" algn="just" eaLnBrk="0" fontAlgn="base" hangingPunct="0">
              <a:lnSpc>
                <a:spcPct val="100000"/>
              </a:lnSpc>
              <a:spcBef>
                <a:spcPts val="1200"/>
              </a:spcBef>
              <a:spcAft>
                <a:spcPct val="0"/>
              </a:spcAft>
            </a:pP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[4] 	Yue Zhang,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Leyang</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Cui, Wei Bi, and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Shuming</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Shi. 2025. </a:t>
            </a:r>
            <a:r>
              <a:rPr lang="en-US" sz="1400" b="0" i="0" u="none" strike="noStrike" dirty="0">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4"/>
              </a:rPr>
              <a:t>Alleviating Hallucinations of Large Language Models through Induced Hallucinations</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In </a:t>
            </a:r>
            <a:r>
              <a:rPr lang="en-US" sz="1400" b="0" i="1"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Findings of the Association for Computational Linguistics: NAACL 2025</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pages 8233–8247, Albuquerque, New Mexico. Association for Computational Linguistics.</a:t>
            </a:r>
          </a:p>
          <a:p>
            <a:pPr marL="457200" indent="-457200" algn="just" eaLnBrk="0" fontAlgn="base" hangingPunct="0">
              <a:lnSpc>
                <a:spcPct val="100000"/>
              </a:lnSpc>
              <a:spcBef>
                <a:spcPts val="1200"/>
              </a:spcBef>
              <a:spcAft>
                <a:spcPct val="0"/>
              </a:spcAft>
            </a:pP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[5]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Jiahao</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Li, </a:t>
            </a:r>
            <a:r>
              <a:rPr lang="en-US" sz="1400" b="0" i="0" dirty="0" err="1">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Zhendong</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Mao, and Quan Wang. 2025. </a:t>
            </a:r>
            <a:r>
              <a:rPr lang="en-US" sz="1400" b="0" i="0" u="none" strike="noStrike" dirty="0">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5"/>
              </a:rPr>
              <a:t>Alleviating Hallucinations in Large Language Models via Truthfulness-driven Rank-adaptive </a:t>
            </a:r>
            <a:r>
              <a:rPr lang="en-US" sz="1400" b="0" i="0" u="none" strike="noStrike" dirty="0" err="1">
                <a:solidFill>
                  <a:srgbClr val="446E9B"/>
                </a:solidFill>
                <a:effectLst/>
                <a:latin typeface="Lato Medium" panose="020F0502020204030203" pitchFamily="34" charset="0"/>
                <a:ea typeface="Lato Medium" panose="020F0502020204030203" pitchFamily="34" charset="0"/>
                <a:cs typeface="Lato Medium" panose="020F0502020204030203" pitchFamily="34" charset="0"/>
                <a:hlinkClick r:id="rId5"/>
              </a:rPr>
              <a:t>LoRA</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In </a:t>
            </a:r>
            <a:r>
              <a:rPr lang="en-US" sz="1400" b="0" i="1"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Findings of the Association for Computational Linguistics: ACL 2025</a:t>
            </a:r>
            <a:r>
              <a:rPr lang="en-US" sz="1400" b="0" i="0" dirty="0">
                <a:solidFill>
                  <a:srgbClr val="212529"/>
                </a:solidFill>
                <a:effectLst/>
                <a:latin typeface="Lato Medium" panose="020F0502020204030203" pitchFamily="34" charset="0"/>
                <a:ea typeface="Lato Medium" panose="020F0502020204030203" pitchFamily="34" charset="0"/>
                <a:cs typeface="Lato Medium" panose="020F0502020204030203" pitchFamily="34" charset="0"/>
              </a:rPr>
              <a:t>, pages 2020–2031, Vienna, Austria. Association for Computational Linguistics.</a:t>
            </a:r>
            <a:endParaRPr kumimoji="0" lang="en-US" altLang="en-US" sz="1400" i="1" u="none" strike="noStrike" cap="none" normalizeH="0" baseline="0" dirty="0">
              <a:ln>
                <a:noFill/>
              </a:ln>
              <a:solidFill>
                <a:schemeClr val="tx1"/>
              </a:solidFill>
              <a:effectLst/>
              <a:latin typeface="Lato Medium" panose="020F0502020204030203" pitchFamily="34" charset="0"/>
              <a:ea typeface="Lato Medium" panose="020F0502020204030203" pitchFamily="34" charset="0"/>
              <a:cs typeface="Lato Medium" panose="020F0502020204030203" pitchFamily="34" charset="0"/>
            </a:endParaRPr>
          </a:p>
        </p:txBody>
      </p:sp>
      <p:sp>
        <p:nvSpPr>
          <p:cNvPr id="3" name="Rectangle 2">
            <a:extLst>
              <a:ext uri="{FF2B5EF4-FFF2-40B4-BE49-F238E27FC236}">
                <a16:creationId xmlns:a16="http://schemas.microsoft.com/office/drawing/2014/main" id="{B77E27A1-64FD-A50C-B74A-95618F00572E}"/>
              </a:ext>
            </a:extLst>
          </p:cNvPr>
          <p:cNvSpPr/>
          <p:nvPr/>
        </p:nvSpPr>
        <p:spPr>
          <a:xfrm>
            <a:off x="9808014" y="6553111"/>
            <a:ext cx="2383986" cy="307777"/>
          </a:xfrm>
          <a:prstGeom prst="rect">
            <a:avLst/>
          </a:prstGeom>
        </p:spPr>
        <p:txBody>
          <a:bodyPr wrap="square">
            <a:spAutoFit/>
          </a:bodyPr>
          <a:lstStyle/>
          <a:p>
            <a:pPr algn="r"/>
            <a:r>
              <a:rPr lang="en-US" sz="1400" b="1" dirty="0">
                <a:solidFill>
                  <a:srgbClr val="C0C0C0"/>
                </a:solidFill>
                <a:latin typeface="Lato Medium" panose="020F0502020204030203" pitchFamily="34" charset="0"/>
                <a:ea typeface="Lato Medium" panose="020F0502020204030203" pitchFamily="34" charset="0"/>
                <a:cs typeface="Lato Medium" panose="020F0502020204030203" pitchFamily="34" charset="0"/>
              </a:rPr>
              <a:t>23</a:t>
            </a:r>
          </a:p>
        </p:txBody>
      </p:sp>
    </p:spTree>
    <p:extLst>
      <p:ext uri="{BB962C8B-B14F-4D97-AF65-F5344CB8AC3E}">
        <p14:creationId xmlns:p14="http://schemas.microsoft.com/office/powerpoint/2010/main" val="2050889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917D-F96E-4E94-B6E9-4B028A3A914C}"/>
              </a:ext>
            </a:extLst>
          </p:cNvPr>
          <p:cNvSpPr>
            <a:spLocks noGrp="1"/>
          </p:cNvSpPr>
          <p:nvPr>
            <p:ph type="title"/>
          </p:nvPr>
        </p:nvSpPr>
        <p:spPr>
          <a:xfrm>
            <a:off x="838200" y="2766218"/>
            <a:ext cx="10515600" cy="1325563"/>
          </a:xfrm>
        </p:spPr>
        <p:txBody>
          <a:bodyPr>
            <a:noAutofit/>
          </a:bodyPr>
          <a:lstStyle/>
          <a:p>
            <a:pPr algn="ctr"/>
            <a:r>
              <a:rPr lang="en-US" sz="2400" b="1" dirty="0">
                <a:latin typeface="Lato Black" panose="020F0502020204030203" pitchFamily="34" charset="0"/>
                <a:ea typeface="Lato Black" panose="020F0502020204030203" pitchFamily="34" charset="0"/>
                <a:cs typeface="Lato Black" panose="020F0502020204030203" pitchFamily="34" charset="0"/>
              </a:rPr>
              <a:t>Thank You</a:t>
            </a:r>
          </a:p>
        </p:txBody>
      </p:sp>
    </p:spTree>
    <p:extLst>
      <p:ext uri="{BB962C8B-B14F-4D97-AF65-F5344CB8AC3E}">
        <p14:creationId xmlns:p14="http://schemas.microsoft.com/office/powerpoint/2010/main" val="1426068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5344</TotalTime>
  <Words>2196</Words>
  <Application>Microsoft Office PowerPoint</Application>
  <PresentationFormat>Widescreen</PresentationFormat>
  <Paragraphs>219</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Wingdings</vt:lpstr>
      <vt:lpstr>Calibri Light</vt:lpstr>
      <vt:lpstr>Lato Black</vt:lpstr>
      <vt:lpstr>Arial</vt:lpstr>
      <vt:lpstr>Lato Medium</vt:lpstr>
      <vt:lpstr>Calibri</vt:lpstr>
      <vt:lpstr>Office Theme</vt:lpstr>
      <vt:lpstr>A-RICD: Adapter-based Resource-efficient Induce-then-Contrast Decoding for Reducing Hallucinations in Large Language Models</vt:lpstr>
      <vt:lpstr>Contents</vt:lpstr>
      <vt:lpstr>Introduction</vt:lpstr>
      <vt:lpstr>Problem Statement</vt:lpstr>
      <vt:lpstr>PowerPoint Presentation</vt:lpstr>
      <vt:lpstr>PowerPoint Presentation</vt:lpstr>
      <vt:lpstr>Related Work</vt:lpstr>
      <vt:lpstr> </vt:lpstr>
      <vt:lpstr>PowerPoint Presentation</vt:lpstr>
      <vt:lpstr>Required Tools</vt:lpstr>
      <vt:lpstr>Methodology</vt:lpstr>
      <vt:lpstr>Dataset Overview</vt:lpstr>
      <vt:lpstr>PowerPoint Presentation</vt:lpstr>
      <vt:lpstr>Models &amp; Result</vt:lpstr>
      <vt:lpstr>PowerPoint Presentation</vt:lpstr>
      <vt:lpstr>Models &amp; Result (Cont.)</vt:lpstr>
      <vt:lpstr>Models &amp; Result (Cont.)</vt:lpstr>
      <vt:lpstr>Models &amp; Result (Cont.)</vt:lpstr>
      <vt:lpstr>Models &amp; Result (Cont.)</vt:lpstr>
      <vt:lpstr>Models &amp; Result (Cont.)</vt:lpstr>
      <vt:lpstr>Comparative Analysis</vt:lpstr>
      <vt:lpstr>PowerPoint Presentation</vt:lpstr>
      <vt:lpstr>PowerPoint Presentation</vt:lpstr>
      <vt:lpstr>Conclusion &amp; Future Work</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LLM-Based Intelligent Document Processing Framework for Multi-Type Document Parsing and Structured JSON Extraction</dc:title>
  <dc:creator>Shahjad Siam</dc:creator>
  <cp:lastModifiedBy>Shahjad Siam</cp:lastModifiedBy>
  <cp:revision>329</cp:revision>
  <dcterms:created xsi:type="dcterms:W3CDTF">2026-01-06T05:34:02Z</dcterms:created>
  <dcterms:modified xsi:type="dcterms:W3CDTF">2026-06-08T02:40:35Z</dcterms:modified>
</cp:coreProperties>
</file>